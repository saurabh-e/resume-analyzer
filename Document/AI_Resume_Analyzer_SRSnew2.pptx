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91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wipe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wipe dir="l"/>
      </p:transition>
    </mc:Choice>
    <mc:Fallback>
      <p:transition spd="slow">
        <p:fade/>
      </p:transition>
    </mc:Fallback>
  </mc:AlternateConten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5943600" y="0"/>
            <a:ext cx="3200400" cy="73152"/>
          </a:xfrm>
          <a:prstGeom prst="rect"/>
          <a:solidFill>
            <a:srgbClr val="0D9488"/>
          </a:solidFill>
        </p:spPr>
      </p:sp>
      <p:sp>
        <p:nvSpPr>
          <p:cNvPr id="1048577" name="Shape 1"/>
          <p:cNvSpPr/>
          <p:nvPr/>
        </p:nvSpPr>
        <p:spPr>
          <a:xfrm>
            <a:off x="9070848" y="0"/>
            <a:ext cx="73152" cy="2286000"/>
          </a:xfrm>
          <a:prstGeom prst="rect"/>
          <a:solidFill>
            <a:srgbClr val="0D9488"/>
          </a:solidFill>
        </p:spPr>
      </p:sp>
      <p:sp>
        <p:nvSpPr>
          <p:cNvPr id="1048578" name="Shape 2"/>
          <p:cNvSpPr/>
          <p:nvPr/>
        </p:nvSpPr>
        <p:spPr>
          <a:xfrm>
            <a:off x="0" y="0"/>
            <a:ext cx="3840480" cy="5143500"/>
          </a:xfrm>
          <a:prstGeom prst="rect"/>
          <a:solidFill>
            <a:srgbClr val="1A3A6C"/>
          </a:solidFill>
        </p:spPr>
      </p:sp>
      <p:sp>
        <p:nvSpPr>
          <p:cNvPr id="1048579" name="Shape 3"/>
          <p:cNvSpPr/>
          <p:nvPr/>
        </p:nvSpPr>
        <p:spPr>
          <a:xfrm>
            <a:off x="0" y="0"/>
            <a:ext cx="3840480" cy="73152"/>
          </a:xfrm>
          <a:prstGeom prst="rect"/>
          <a:solidFill>
            <a:srgbClr val="0D9488"/>
          </a:solidFill>
        </p:spPr>
      </p:sp>
      <p:sp>
        <p:nvSpPr>
          <p:cNvPr id="1048580" name="Shape 4"/>
          <p:cNvSpPr/>
          <p:nvPr/>
        </p:nvSpPr>
        <p:spPr>
          <a:xfrm>
            <a:off x="1051560" y="411480"/>
            <a:ext cx="1737360" cy="1737360"/>
          </a:xfrm>
          <a:prstGeom prst="ellipse"/>
          <a:solidFill>
            <a:srgbClr val="0D2A4A"/>
          </a:solidFill>
        </p:spPr>
      </p:sp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234440" y="548640"/>
            <a:ext cx="1371600" cy="1371600"/>
          </a:xfrm>
          <a:prstGeom prst="rect"/>
        </p:spPr>
      </p:pic>
      <p:sp>
        <p:nvSpPr>
          <p:cNvPr id="1048581" name="Shape 5"/>
          <p:cNvSpPr/>
          <p:nvPr/>
        </p:nvSpPr>
        <p:spPr>
          <a:xfrm>
            <a:off x="365760" y="2395728"/>
            <a:ext cx="3108960" cy="256032"/>
          </a:xfrm>
          <a:prstGeom prst="roundRect">
            <a:avLst>
              <a:gd name="adj" fmla="val 28571"/>
            </a:avLst>
          </a:prstGeom>
          <a:solidFill>
            <a:srgbClr val="0D9488"/>
          </a:solidFill>
        </p:spPr>
      </p:sp>
      <p:sp>
        <p:nvSpPr>
          <p:cNvPr id="1048582" name="Text 6"/>
          <p:cNvSpPr/>
          <p:nvPr/>
        </p:nvSpPr>
        <p:spPr>
          <a:xfrm>
            <a:off x="365760" y="2395728"/>
            <a:ext cx="310896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650" kern="0" lang="en-US" spc="150">
                <a:solidFill>
                  <a:srgbClr val="FFFFFF"/>
                </a:solidFill>
              </a:rPr>
              <a:t>SOFTWARE REQUIREMENTS SPECIFICATION</a:t>
            </a:r>
            <a:endParaRPr dirty="0" sz="650" lang="en-US"/>
          </a:p>
        </p:txBody>
      </p:sp>
      <p:sp>
        <p:nvSpPr>
          <p:cNvPr id="1048583" name="Shape 7"/>
          <p:cNvSpPr/>
          <p:nvPr/>
        </p:nvSpPr>
        <p:spPr>
          <a:xfrm>
            <a:off x="365760" y="274320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0D2A4A"/>
          </a:solidFill>
        </p:spPr>
      </p:sp>
      <p:sp>
        <p:nvSpPr>
          <p:cNvPr id="1048584" name="Text 8"/>
          <p:cNvSpPr/>
          <p:nvPr/>
        </p:nvSpPr>
        <p:spPr>
          <a:xfrm>
            <a:off x="365760" y="2743200"/>
            <a:ext cx="1417320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14B8A6"/>
                </a:solidFill>
              </a:rPr>
              <a:t>v1.0</a:t>
            </a:r>
            <a:endParaRPr dirty="0" sz="900" lang="en-US"/>
          </a:p>
        </p:txBody>
      </p:sp>
      <p:sp>
        <p:nvSpPr>
          <p:cNvPr id="1048585" name="Shape 9"/>
          <p:cNvSpPr/>
          <p:nvPr/>
        </p:nvSpPr>
        <p:spPr>
          <a:xfrm>
            <a:off x="1965960" y="274320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0D2A4A"/>
          </a:solidFill>
        </p:spPr>
      </p:sp>
      <p:sp>
        <p:nvSpPr>
          <p:cNvPr id="1048586" name="Text 10"/>
          <p:cNvSpPr/>
          <p:nvPr/>
        </p:nvSpPr>
        <p:spPr>
          <a:xfrm>
            <a:off x="1965960" y="2743200"/>
            <a:ext cx="1508760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CBD5E1"/>
                </a:solidFill>
              </a:rPr>
              <a:t>Full Stack App</a:t>
            </a:r>
            <a:endParaRPr dirty="0" sz="900" lang="en-US"/>
          </a:p>
        </p:txBody>
      </p:sp>
      <p:sp>
        <p:nvSpPr>
          <p:cNvPr id="1048587" name="Shape 11"/>
          <p:cNvSpPr/>
          <p:nvPr/>
        </p:nvSpPr>
        <p:spPr>
          <a:xfrm>
            <a:off x="320040" y="3154680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</p:spPr>
      </p:sp>
      <p:sp>
        <p:nvSpPr>
          <p:cNvPr id="1048588" name="Text 12"/>
          <p:cNvSpPr/>
          <p:nvPr/>
        </p:nvSpPr>
        <p:spPr>
          <a:xfrm>
            <a:off x="320040" y="3154680"/>
            <a:ext cx="107899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50" lang="en-US">
                <a:solidFill>
                  <a:srgbClr val="FFFFFF"/>
                </a:solidFill>
              </a:rPr>
              <a:t>MongoDB</a:t>
            </a:r>
            <a:endParaRPr dirty="0" sz="750" lang="en-US"/>
          </a:p>
        </p:txBody>
      </p:sp>
      <p:sp>
        <p:nvSpPr>
          <p:cNvPr id="1048589" name="Shape 13"/>
          <p:cNvSpPr/>
          <p:nvPr/>
        </p:nvSpPr>
        <p:spPr>
          <a:xfrm>
            <a:off x="1508760" y="3154680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</p:spPr>
      </p:sp>
      <p:sp>
        <p:nvSpPr>
          <p:cNvPr id="1048590" name="Text 14"/>
          <p:cNvSpPr/>
          <p:nvPr/>
        </p:nvSpPr>
        <p:spPr>
          <a:xfrm>
            <a:off x="1508760" y="3154680"/>
            <a:ext cx="107899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50" lang="en-US">
                <a:solidFill>
                  <a:srgbClr val="FFFFFF"/>
                </a:solidFill>
              </a:rPr>
              <a:t>Express.js</a:t>
            </a:r>
            <a:endParaRPr dirty="0" sz="750" lang="en-US"/>
          </a:p>
        </p:txBody>
      </p:sp>
      <p:sp>
        <p:nvSpPr>
          <p:cNvPr id="1048591" name="Shape 15"/>
          <p:cNvSpPr/>
          <p:nvPr/>
        </p:nvSpPr>
        <p:spPr>
          <a:xfrm>
            <a:off x="2697480" y="3154680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38BDF8"/>
          </a:solidFill>
        </p:spPr>
      </p:sp>
      <p:sp>
        <p:nvSpPr>
          <p:cNvPr id="1048592" name="Text 16"/>
          <p:cNvSpPr/>
          <p:nvPr/>
        </p:nvSpPr>
        <p:spPr>
          <a:xfrm>
            <a:off x="2697480" y="3154680"/>
            <a:ext cx="107899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50" lang="en-US">
                <a:solidFill>
                  <a:srgbClr val="FFFFFF"/>
                </a:solidFill>
              </a:rPr>
              <a:t>React.js</a:t>
            </a:r>
            <a:endParaRPr dirty="0" sz="750" lang="en-US"/>
          </a:p>
        </p:txBody>
      </p:sp>
      <p:sp>
        <p:nvSpPr>
          <p:cNvPr id="1048593" name="Shape 17"/>
          <p:cNvSpPr/>
          <p:nvPr/>
        </p:nvSpPr>
        <p:spPr>
          <a:xfrm>
            <a:off x="804672" y="352044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6EE7B7"/>
          </a:solidFill>
        </p:spPr>
      </p:sp>
      <p:sp>
        <p:nvSpPr>
          <p:cNvPr id="1048594" name="Text 18"/>
          <p:cNvSpPr/>
          <p:nvPr/>
        </p:nvSpPr>
        <p:spPr>
          <a:xfrm>
            <a:off x="804672" y="3520440"/>
            <a:ext cx="14173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50" lang="en-US">
                <a:solidFill>
                  <a:srgbClr val="FFFFFF"/>
                </a:solidFill>
              </a:rPr>
              <a:t>Node.js</a:t>
            </a:r>
            <a:endParaRPr dirty="0" sz="750" lang="en-US"/>
          </a:p>
        </p:txBody>
      </p:sp>
      <p:sp>
        <p:nvSpPr>
          <p:cNvPr id="1048595" name="Shape 19"/>
          <p:cNvSpPr/>
          <p:nvPr/>
        </p:nvSpPr>
        <p:spPr>
          <a:xfrm>
            <a:off x="2267712" y="352044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A78BFA"/>
          </a:solidFill>
        </p:spPr>
      </p:sp>
      <p:sp>
        <p:nvSpPr>
          <p:cNvPr id="1048596" name="Text 20"/>
          <p:cNvSpPr/>
          <p:nvPr/>
        </p:nvSpPr>
        <p:spPr>
          <a:xfrm>
            <a:off x="2267712" y="3520440"/>
            <a:ext cx="14173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50" lang="en-US">
                <a:solidFill>
                  <a:srgbClr val="FFFFFF"/>
                </a:solidFill>
              </a:rPr>
              <a:t>Groq AI</a:t>
            </a:r>
            <a:endParaRPr dirty="0" sz="750" lang="en-US"/>
          </a:p>
        </p:txBody>
      </p:sp>
      <p:sp>
        <p:nvSpPr>
          <p:cNvPr id="1048597" name="Text 21"/>
          <p:cNvSpPr/>
          <p:nvPr/>
        </p:nvSpPr>
        <p:spPr>
          <a:xfrm>
            <a:off x="274320" y="3730752"/>
            <a:ext cx="3291840" cy="2286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750" lang="en-US">
                <a:solidFill>
                  <a:srgbClr val="CBD5E1"/>
                </a:solidFill>
              </a:rPr>
              <a:t>Project Type: Academic / Portfolio</a:t>
            </a:r>
            <a:endParaRPr dirty="0" sz="750" lang="en-US"/>
          </a:p>
        </p:txBody>
      </p:sp>
      <p:sp>
        <p:nvSpPr>
          <p:cNvPr id="1048598" name="Text 22"/>
          <p:cNvSpPr/>
          <p:nvPr/>
        </p:nvSpPr>
        <p:spPr>
          <a:xfrm>
            <a:off x="228600" y="3977640"/>
            <a:ext cx="3383280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650" lang="en-US">
                <a:solidFill>
                  <a:srgbClr val="7A9CC0"/>
                </a:solidFill>
              </a:rPr>
              <a:t>Groq AI Integration · REST APIs · JWT Auth · MongoDB Atlas</a:t>
            </a:r>
            <a:endParaRPr dirty="0" sz="650" lang="en-US"/>
          </a:p>
        </p:txBody>
      </p:sp>
      <p:sp>
        <p:nvSpPr>
          <p:cNvPr id="1048599" name="Shape 23"/>
          <p:cNvSpPr/>
          <p:nvPr/>
        </p:nvSpPr>
        <p:spPr>
          <a:xfrm>
            <a:off x="3639312" y="457200"/>
            <a:ext cx="73152" cy="73152"/>
          </a:xfrm>
          <a:prstGeom prst="ellipse"/>
          <a:solidFill>
            <a:srgbClr val="0D9488"/>
          </a:solidFill>
        </p:spPr>
      </p:sp>
      <p:sp>
        <p:nvSpPr>
          <p:cNvPr id="1048600" name="Shape 24"/>
          <p:cNvSpPr/>
          <p:nvPr/>
        </p:nvSpPr>
        <p:spPr>
          <a:xfrm>
            <a:off x="3639312" y="914400"/>
            <a:ext cx="73152" cy="73152"/>
          </a:xfrm>
          <a:prstGeom prst="ellipse"/>
          <a:solidFill>
            <a:srgbClr val="0D9488"/>
          </a:solidFill>
        </p:spPr>
      </p:sp>
      <p:sp>
        <p:nvSpPr>
          <p:cNvPr id="1048601" name="Shape 25"/>
          <p:cNvSpPr/>
          <p:nvPr/>
        </p:nvSpPr>
        <p:spPr>
          <a:xfrm>
            <a:off x="3639312" y="1371600"/>
            <a:ext cx="73152" cy="73152"/>
          </a:xfrm>
          <a:prstGeom prst="ellipse"/>
          <a:solidFill>
            <a:srgbClr val="0D9488"/>
          </a:solidFill>
        </p:spPr>
      </p:sp>
      <p:sp>
        <p:nvSpPr>
          <p:cNvPr id="1048602" name="Shape 26"/>
          <p:cNvSpPr/>
          <p:nvPr/>
        </p:nvSpPr>
        <p:spPr>
          <a:xfrm>
            <a:off x="3639312" y="1828800"/>
            <a:ext cx="73152" cy="73152"/>
          </a:xfrm>
          <a:prstGeom prst="ellipse"/>
          <a:solidFill>
            <a:srgbClr val="0D9488"/>
          </a:solidFill>
        </p:spPr>
      </p:sp>
      <p:sp>
        <p:nvSpPr>
          <p:cNvPr id="1048603" name="Shape 27"/>
          <p:cNvSpPr/>
          <p:nvPr/>
        </p:nvSpPr>
        <p:spPr>
          <a:xfrm>
            <a:off x="3639312" y="2286000"/>
            <a:ext cx="73152" cy="73152"/>
          </a:xfrm>
          <a:prstGeom prst="ellipse"/>
          <a:solidFill>
            <a:srgbClr val="0D9488"/>
          </a:solidFill>
        </p:spPr>
      </p:sp>
      <p:sp>
        <p:nvSpPr>
          <p:cNvPr id="1048604" name="Text 28"/>
          <p:cNvSpPr/>
          <p:nvPr/>
        </p:nvSpPr>
        <p:spPr>
          <a:xfrm>
            <a:off x="4023360" y="201168"/>
            <a:ext cx="4937760" cy="7772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5400" lang="en-US">
                <a:solidFill>
                  <a:srgbClr val="FFFFFF"/>
                </a:solidFill>
              </a:rPr>
              <a:t>AI Resume</a:t>
            </a:r>
            <a:endParaRPr dirty="0" sz="5400" lang="en-US"/>
          </a:p>
        </p:txBody>
      </p:sp>
      <p:sp>
        <p:nvSpPr>
          <p:cNvPr id="1048605" name="Text 29"/>
          <p:cNvSpPr/>
          <p:nvPr/>
        </p:nvSpPr>
        <p:spPr>
          <a:xfrm>
            <a:off x="4023360" y="932688"/>
            <a:ext cx="4937760" cy="7772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5400" lang="en-US">
                <a:solidFill>
                  <a:srgbClr val="0D9488"/>
                </a:solidFill>
              </a:rPr>
              <a:t>Analyzer</a:t>
            </a:r>
            <a:endParaRPr dirty="0" sz="5400" lang="en-US"/>
          </a:p>
        </p:txBody>
      </p:sp>
      <p:sp>
        <p:nvSpPr>
          <p:cNvPr id="1048606" name="Text 30"/>
          <p:cNvSpPr/>
          <p:nvPr/>
        </p:nvSpPr>
        <p:spPr>
          <a:xfrm>
            <a:off x="4023360" y="1783080"/>
            <a:ext cx="4892040" cy="658368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An intelligent ATS-scoring system that analyzes resumes against job descriptions,</a:t>
            </a:r>
            <a:endParaRPr dirty="0" sz="900" lang="en-US"/>
          </a:p>
          <a:p>
            <a:pPr algn="l"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identifies skill gaps, and generates AI-powered career recommendations.</a:t>
            </a:r>
            <a:endParaRPr dirty="0" sz="900" lang="en-US"/>
          </a:p>
        </p:txBody>
      </p:sp>
      <p:sp>
        <p:nvSpPr>
          <p:cNvPr id="1048607" name="Shape 31"/>
          <p:cNvSpPr/>
          <p:nvPr/>
        </p:nvSpPr>
        <p:spPr>
          <a:xfrm>
            <a:off x="4023360" y="2578608"/>
            <a:ext cx="2331720" cy="1024128"/>
          </a:xfrm>
          <a:prstGeom prst="roundRect">
            <a:avLst>
              <a:gd name="adj" fmla="val 8929"/>
            </a:avLst>
          </a:prstGeom>
          <a:solidFill>
            <a:srgbClr val="122650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  <p:txBody>
          <a:bodyPr/>
          <a:p>
            <a:r>
              <a:rPr altLang="en-US" lang="zh-CN"/>
              <a:t>
</a:t>
            </a:r>
            <a:endParaRPr altLang="en-US" lang="zh-CN"/>
          </a:p>
        </p:txBody>
      </p:sp>
      <p:sp>
        <p:nvSpPr>
          <p:cNvPr id="1048608" name="Shape 32"/>
          <p:cNvSpPr/>
          <p:nvPr/>
        </p:nvSpPr>
        <p:spPr>
          <a:xfrm>
            <a:off x="4151376" y="2743200"/>
            <a:ext cx="512064" cy="512064"/>
          </a:xfrm>
          <a:prstGeom prst="ellipse"/>
          <a:solidFill>
            <a:srgbClr val="0D9488"/>
          </a:solidFill>
        </p:spPr>
      </p:sp>
      <p:pic>
        <p:nvPicPr>
          <p:cNvPr id="2097153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224528" y="2807208"/>
            <a:ext cx="365760" cy="365760"/>
          </a:xfrm>
          <a:prstGeom prst="rect"/>
        </p:spPr>
      </p:pic>
      <p:sp>
        <p:nvSpPr>
          <p:cNvPr id="1048609" name="Text 33"/>
          <p:cNvSpPr/>
          <p:nvPr/>
        </p:nvSpPr>
        <p:spPr>
          <a:xfrm>
            <a:off x="4773168" y="2724912"/>
            <a:ext cx="150876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</a:rPr>
              <a:t>ATS Scoring</a:t>
            </a:r>
            <a:endParaRPr dirty="0" sz="950" lang="en-US"/>
          </a:p>
        </p:txBody>
      </p:sp>
      <p:sp>
        <p:nvSpPr>
          <p:cNvPr id="1048610" name="Text 34"/>
          <p:cNvSpPr/>
          <p:nvPr/>
        </p:nvSpPr>
        <p:spPr>
          <a:xfrm>
            <a:off x="4773168" y="3090672"/>
            <a:ext cx="15087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750" lang="en-US">
                <a:solidFill>
                  <a:srgbClr val="CBD5E1"/>
                </a:solidFill>
              </a:rPr>
              <a:t>0–100 weighted score</a:t>
            </a:r>
            <a:endParaRPr dirty="0" sz="750" lang="en-US"/>
          </a:p>
        </p:txBody>
      </p:sp>
      <p:sp>
        <p:nvSpPr>
          <p:cNvPr id="1048611" name="Shape 35"/>
          <p:cNvSpPr/>
          <p:nvPr/>
        </p:nvSpPr>
        <p:spPr>
          <a:xfrm>
            <a:off x="6510528" y="2578608"/>
            <a:ext cx="2331720" cy="1024128"/>
          </a:xfrm>
          <a:prstGeom prst="roundRect">
            <a:avLst>
              <a:gd name="adj" fmla="val 8929"/>
            </a:avLst>
          </a:prstGeom>
          <a:solidFill>
            <a:srgbClr val="122650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12" name="Shape 36"/>
          <p:cNvSpPr/>
          <p:nvPr/>
        </p:nvSpPr>
        <p:spPr>
          <a:xfrm>
            <a:off x="6638544" y="2743200"/>
            <a:ext cx="512064" cy="512064"/>
          </a:xfrm>
          <a:prstGeom prst="ellipse"/>
          <a:solidFill>
            <a:srgbClr val="1E40AF"/>
          </a:solidFill>
        </p:spPr>
      </p:sp>
      <p:pic>
        <p:nvPicPr>
          <p:cNvPr id="2097154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711696" y="2807208"/>
            <a:ext cx="365760" cy="365760"/>
          </a:xfrm>
          <a:prstGeom prst="rect"/>
        </p:spPr>
      </p:pic>
      <p:sp>
        <p:nvSpPr>
          <p:cNvPr id="1048613" name="Text 37"/>
          <p:cNvSpPr/>
          <p:nvPr/>
        </p:nvSpPr>
        <p:spPr>
          <a:xfrm>
            <a:off x="7260336" y="2724912"/>
            <a:ext cx="150876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</a:rPr>
              <a:t>Skill Gap Analysis</a:t>
            </a:r>
            <a:endParaRPr dirty="0" sz="950" lang="en-US"/>
          </a:p>
        </p:txBody>
      </p:sp>
      <p:sp>
        <p:nvSpPr>
          <p:cNvPr id="1048614" name="Text 38"/>
          <p:cNvSpPr/>
          <p:nvPr/>
        </p:nvSpPr>
        <p:spPr>
          <a:xfrm>
            <a:off x="7260336" y="3090672"/>
            <a:ext cx="15087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750" lang="en-US">
                <a:solidFill>
                  <a:srgbClr val="CBD5E1"/>
                </a:solidFill>
              </a:rPr>
              <a:t>Missing skill detection</a:t>
            </a:r>
            <a:endParaRPr dirty="0" sz="750" lang="en-US"/>
          </a:p>
        </p:txBody>
      </p:sp>
      <p:sp>
        <p:nvSpPr>
          <p:cNvPr id="1048615" name="Shape 39"/>
          <p:cNvSpPr/>
          <p:nvPr/>
        </p:nvSpPr>
        <p:spPr>
          <a:xfrm>
            <a:off x="4023360" y="3749040"/>
            <a:ext cx="2331720" cy="1024128"/>
          </a:xfrm>
          <a:prstGeom prst="roundRect">
            <a:avLst>
              <a:gd name="adj" fmla="val 8929"/>
            </a:avLst>
          </a:prstGeom>
          <a:solidFill>
            <a:srgbClr val="122650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16" name="Shape 40"/>
          <p:cNvSpPr/>
          <p:nvPr/>
        </p:nvSpPr>
        <p:spPr>
          <a:xfrm>
            <a:off x="4151376" y="3913632"/>
            <a:ext cx="512064" cy="512064"/>
          </a:xfrm>
          <a:prstGeom prst="ellipse"/>
          <a:solidFill>
            <a:srgbClr val="7C3AED"/>
          </a:solidFill>
        </p:spPr>
      </p:sp>
      <p:pic>
        <p:nvPicPr>
          <p:cNvPr id="2097155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224528" y="3977640"/>
            <a:ext cx="365760" cy="365760"/>
          </a:xfrm>
          <a:prstGeom prst="rect"/>
        </p:spPr>
      </p:pic>
      <p:sp>
        <p:nvSpPr>
          <p:cNvPr id="1048617" name="Text 41"/>
          <p:cNvSpPr/>
          <p:nvPr/>
        </p:nvSpPr>
        <p:spPr>
          <a:xfrm>
            <a:off x="4773168" y="3895344"/>
            <a:ext cx="150876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</a:rPr>
              <a:t>Groq AI Suggest.</a:t>
            </a:r>
            <a:endParaRPr dirty="0" sz="950" lang="en-US"/>
          </a:p>
        </p:txBody>
      </p:sp>
      <p:sp>
        <p:nvSpPr>
          <p:cNvPr id="1048618" name="Text 42"/>
          <p:cNvSpPr/>
          <p:nvPr/>
        </p:nvSpPr>
        <p:spPr>
          <a:xfrm>
            <a:off x="4773168" y="4261104"/>
            <a:ext cx="15087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750" lang="en-US">
                <a:solidFill>
                  <a:srgbClr val="CBD5E1"/>
                </a:solidFill>
              </a:rPr>
              <a:t>Smart recommendations</a:t>
            </a:r>
            <a:endParaRPr dirty="0" sz="750" lang="en-US"/>
          </a:p>
        </p:txBody>
      </p:sp>
      <p:sp>
        <p:nvSpPr>
          <p:cNvPr id="1048619" name="Shape 43"/>
          <p:cNvSpPr/>
          <p:nvPr/>
        </p:nvSpPr>
        <p:spPr>
          <a:xfrm>
            <a:off x="6510528" y="3749040"/>
            <a:ext cx="2331720" cy="1024128"/>
          </a:xfrm>
          <a:prstGeom prst="roundRect">
            <a:avLst>
              <a:gd name="adj" fmla="val 8929"/>
            </a:avLst>
          </a:prstGeom>
          <a:solidFill>
            <a:srgbClr val="122650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20" name="Shape 44"/>
          <p:cNvSpPr/>
          <p:nvPr/>
        </p:nvSpPr>
        <p:spPr>
          <a:xfrm>
            <a:off x="6638544" y="3913632"/>
            <a:ext cx="512064" cy="512064"/>
          </a:xfrm>
          <a:prstGeom prst="ellipse"/>
          <a:solidFill>
            <a:srgbClr val="F59E0B"/>
          </a:solidFill>
        </p:spPr>
      </p:sp>
      <p:pic>
        <p:nvPicPr>
          <p:cNvPr id="2097156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711696" y="3977640"/>
            <a:ext cx="365760" cy="365760"/>
          </a:xfrm>
          <a:prstGeom prst="rect"/>
        </p:spPr>
      </p:pic>
      <p:sp>
        <p:nvSpPr>
          <p:cNvPr id="1048621" name="Text 45"/>
          <p:cNvSpPr/>
          <p:nvPr/>
        </p:nvSpPr>
        <p:spPr>
          <a:xfrm>
            <a:off x="7260336" y="3895344"/>
            <a:ext cx="150876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</a:rPr>
              <a:t>Interview Prep</a:t>
            </a:r>
            <a:endParaRPr dirty="0" sz="950" lang="en-US"/>
          </a:p>
        </p:txBody>
      </p:sp>
      <p:sp>
        <p:nvSpPr>
          <p:cNvPr id="1048622" name="Text 46"/>
          <p:cNvSpPr/>
          <p:nvPr/>
        </p:nvSpPr>
        <p:spPr>
          <a:xfrm>
            <a:off x="7260336" y="4261104"/>
            <a:ext cx="15087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750" lang="en-US">
                <a:solidFill>
                  <a:srgbClr val="CBD5E1"/>
                </a:solidFill>
              </a:rPr>
              <a:t>AI question generator</a:t>
            </a:r>
            <a:endParaRPr dirty="0" sz="750" lang="en-US"/>
          </a:p>
        </p:txBody>
      </p:sp>
      <p:sp>
        <p:nvSpPr>
          <p:cNvPr id="1048623" name="Shape 47"/>
          <p:cNvSpPr/>
          <p:nvPr/>
        </p:nvSpPr>
        <p:spPr>
          <a:xfrm>
            <a:off x="0" y="4846320"/>
            <a:ext cx="9144000" cy="297180"/>
          </a:xfrm>
          <a:prstGeom prst="rect"/>
          <a:solidFill>
            <a:srgbClr val="0D9488"/>
          </a:solidFill>
        </p:spPr>
      </p:sp>
      <p:sp>
        <p:nvSpPr>
          <p:cNvPr id="1048624" name="Text 48"/>
          <p:cNvSpPr/>
          <p:nvPr/>
        </p:nvSpPr>
        <p:spPr>
          <a:xfrm>
            <a:off x="0" y="4846320"/>
            <a:ext cx="9144000" cy="2971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FFFFFF"/>
                </a:solidFill>
              </a:rPr>
              <a:t>MERN Stack  ·  Groq AI  ·  JWT Authentication  ·  MongoDB Atlas  ·  REST APIs  ·  ATS Engine  ·  v1.0</a:t>
            </a:r>
            <a:endParaRPr dirty="0" sz="80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wipe dir="l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"/>
                                        <p:tgtEl>
                                          <p:spTgt spid="104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C"/>
        </a:solid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ext 0"/>
          <p:cNvSpPr/>
          <p:nvPr/>
        </p:nvSpPr>
        <p:spPr>
          <a:xfrm>
            <a:off x="457200" y="228600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0F1B35"/>
                </a:solidFill>
              </a:rPr>
              <a:t>Table of Contents</a:t>
            </a:r>
            <a:endParaRPr dirty="0" sz="2800" lang="en-US"/>
          </a:p>
        </p:txBody>
      </p:sp>
      <p:sp>
        <p:nvSpPr>
          <p:cNvPr id="1048629" name="Shape 1"/>
          <p:cNvSpPr/>
          <p:nvPr/>
        </p:nvSpPr>
        <p:spPr>
          <a:xfrm>
            <a:off x="457200" y="804672"/>
            <a:ext cx="8229600" cy="27432"/>
          </a:xfrm>
          <a:prstGeom prst="rect"/>
          <a:solidFill>
            <a:srgbClr val="0D9488"/>
          </a:solidFill>
        </p:spPr>
      </p:sp>
      <p:sp>
        <p:nvSpPr>
          <p:cNvPr id="1048630" name="Shape 2"/>
          <p:cNvSpPr/>
          <p:nvPr/>
        </p:nvSpPr>
        <p:spPr>
          <a:xfrm>
            <a:off x="457200" y="96012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31" name="Shape 3"/>
          <p:cNvSpPr/>
          <p:nvPr/>
        </p:nvSpPr>
        <p:spPr>
          <a:xfrm>
            <a:off x="457200" y="960120"/>
            <a:ext cx="438912" cy="841248"/>
          </a:xfrm>
          <a:prstGeom prst="roundRect">
            <a:avLst>
              <a:gd name="adj" fmla="val 20833"/>
            </a:avLst>
          </a:prstGeom>
          <a:solidFill>
            <a:srgbClr val="0D9488"/>
          </a:solidFill>
        </p:spPr>
      </p:sp>
      <p:sp>
        <p:nvSpPr>
          <p:cNvPr id="1048632" name="Shape 4"/>
          <p:cNvSpPr/>
          <p:nvPr/>
        </p:nvSpPr>
        <p:spPr>
          <a:xfrm>
            <a:off x="676656" y="960120"/>
            <a:ext cx="219456" cy="841248"/>
          </a:xfrm>
          <a:prstGeom prst="rect"/>
          <a:solidFill>
            <a:srgbClr val="0D9488"/>
          </a:solidFill>
        </p:spPr>
      </p:sp>
      <p:sp>
        <p:nvSpPr>
          <p:cNvPr id="1048633" name="Text 5"/>
          <p:cNvSpPr/>
          <p:nvPr/>
        </p:nvSpPr>
        <p:spPr>
          <a:xfrm>
            <a:off x="457200" y="960120"/>
            <a:ext cx="438912" cy="8412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01</a:t>
            </a:r>
            <a:endParaRPr dirty="0" sz="1400" lang="en-US"/>
          </a:p>
        </p:txBody>
      </p:sp>
      <p:sp>
        <p:nvSpPr>
          <p:cNvPr id="1048634" name="Text 6"/>
          <p:cNvSpPr/>
          <p:nvPr/>
        </p:nvSpPr>
        <p:spPr>
          <a:xfrm>
            <a:off x="987552" y="1033272"/>
            <a:ext cx="3493008" cy="34747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000" lang="en-US">
                <a:solidFill>
                  <a:srgbClr val="1E293B"/>
                </a:solidFill>
              </a:rPr>
              <a:t>Project Introduction &amp; Purpose</a:t>
            </a:r>
            <a:endParaRPr dirty="0" sz="1000" lang="en-US"/>
          </a:p>
        </p:txBody>
      </p:sp>
      <p:sp>
        <p:nvSpPr>
          <p:cNvPr id="1048635" name="Text 7"/>
          <p:cNvSpPr/>
          <p:nvPr/>
        </p:nvSpPr>
        <p:spPr>
          <a:xfrm>
            <a:off x="987552" y="1399032"/>
            <a:ext cx="3493008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800" lang="en-US">
                <a:solidFill>
                  <a:srgbClr val="475569"/>
                </a:solidFill>
              </a:rPr>
              <a:t>Overview, scope, intended audience</a:t>
            </a:r>
            <a:endParaRPr dirty="0" sz="800" lang="en-US"/>
          </a:p>
        </p:txBody>
      </p:sp>
      <p:sp>
        <p:nvSpPr>
          <p:cNvPr id="1048636" name="Shape 8"/>
          <p:cNvSpPr/>
          <p:nvPr/>
        </p:nvSpPr>
        <p:spPr>
          <a:xfrm>
            <a:off x="457200" y="192024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37" name="Shape 9"/>
          <p:cNvSpPr/>
          <p:nvPr/>
        </p:nvSpPr>
        <p:spPr>
          <a:xfrm>
            <a:off x="457200" y="1920240"/>
            <a:ext cx="438912" cy="841248"/>
          </a:xfrm>
          <a:prstGeom prst="roundRect">
            <a:avLst>
              <a:gd name="adj" fmla="val 20833"/>
            </a:avLst>
          </a:prstGeom>
          <a:solidFill>
            <a:srgbClr val="0D9488"/>
          </a:solidFill>
        </p:spPr>
      </p:sp>
      <p:sp>
        <p:nvSpPr>
          <p:cNvPr id="1048638" name="Shape 10"/>
          <p:cNvSpPr/>
          <p:nvPr/>
        </p:nvSpPr>
        <p:spPr>
          <a:xfrm>
            <a:off x="676656" y="1920240"/>
            <a:ext cx="219456" cy="841248"/>
          </a:xfrm>
          <a:prstGeom prst="rect"/>
          <a:solidFill>
            <a:srgbClr val="0D9488"/>
          </a:solidFill>
        </p:spPr>
      </p:sp>
      <p:sp>
        <p:nvSpPr>
          <p:cNvPr id="1048639" name="Text 11"/>
          <p:cNvSpPr/>
          <p:nvPr/>
        </p:nvSpPr>
        <p:spPr>
          <a:xfrm>
            <a:off x="457200" y="1920240"/>
            <a:ext cx="438912" cy="8412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02</a:t>
            </a:r>
            <a:endParaRPr dirty="0" sz="1400" lang="en-US"/>
          </a:p>
        </p:txBody>
      </p:sp>
      <p:sp>
        <p:nvSpPr>
          <p:cNvPr id="1048640" name="Text 12"/>
          <p:cNvSpPr/>
          <p:nvPr/>
        </p:nvSpPr>
        <p:spPr>
          <a:xfrm>
            <a:off x="987552" y="1993392"/>
            <a:ext cx="3493008" cy="34747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000" lang="en-US">
                <a:solidFill>
                  <a:srgbClr val="1E293B"/>
                </a:solidFill>
              </a:rPr>
              <a:t>System Architecture</a:t>
            </a:r>
            <a:endParaRPr dirty="0" sz="1000" lang="en-US"/>
          </a:p>
        </p:txBody>
      </p:sp>
      <p:sp>
        <p:nvSpPr>
          <p:cNvPr id="1048641" name="Text 13"/>
          <p:cNvSpPr/>
          <p:nvPr/>
        </p:nvSpPr>
        <p:spPr>
          <a:xfrm>
            <a:off x="987552" y="2359152"/>
            <a:ext cx="3493008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800" lang="en-US">
                <a:solidFill>
                  <a:srgbClr val="475569"/>
                </a:solidFill>
              </a:rPr>
              <a:t>Product perspective &amp; tech stack</a:t>
            </a:r>
            <a:endParaRPr dirty="0" sz="800" lang="en-US"/>
          </a:p>
        </p:txBody>
      </p:sp>
      <p:sp>
        <p:nvSpPr>
          <p:cNvPr id="1048642" name="Shape 14"/>
          <p:cNvSpPr/>
          <p:nvPr/>
        </p:nvSpPr>
        <p:spPr>
          <a:xfrm>
            <a:off x="457200" y="288036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43" name="Shape 15"/>
          <p:cNvSpPr/>
          <p:nvPr/>
        </p:nvSpPr>
        <p:spPr>
          <a:xfrm>
            <a:off x="457200" y="2880360"/>
            <a:ext cx="438912" cy="841248"/>
          </a:xfrm>
          <a:prstGeom prst="roundRect">
            <a:avLst>
              <a:gd name="adj" fmla="val 20833"/>
            </a:avLst>
          </a:prstGeom>
          <a:solidFill>
            <a:srgbClr val="0D9488"/>
          </a:solidFill>
        </p:spPr>
      </p:sp>
      <p:sp>
        <p:nvSpPr>
          <p:cNvPr id="1048644" name="Shape 16"/>
          <p:cNvSpPr/>
          <p:nvPr/>
        </p:nvSpPr>
        <p:spPr>
          <a:xfrm>
            <a:off x="676656" y="2880360"/>
            <a:ext cx="219456" cy="841248"/>
          </a:xfrm>
          <a:prstGeom prst="rect"/>
          <a:solidFill>
            <a:srgbClr val="0D9488"/>
          </a:solidFill>
        </p:spPr>
      </p:sp>
      <p:sp>
        <p:nvSpPr>
          <p:cNvPr id="1048645" name="Text 17"/>
          <p:cNvSpPr/>
          <p:nvPr/>
        </p:nvSpPr>
        <p:spPr>
          <a:xfrm>
            <a:off x="457200" y="2880360"/>
            <a:ext cx="438912" cy="8412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03</a:t>
            </a:r>
            <a:endParaRPr dirty="0" sz="1400" lang="en-US"/>
          </a:p>
        </p:txBody>
      </p:sp>
      <p:sp>
        <p:nvSpPr>
          <p:cNvPr id="1048646" name="Text 18"/>
          <p:cNvSpPr/>
          <p:nvPr/>
        </p:nvSpPr>
        <p:spPr>
          <a:xfrm>
            <a:off x="987552" y="2953512"/>
            <a:ext cx="3493008" cy="34747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000" lang="en-US">
                <a:solidFill>
                  <a:srgbClr val="1E293B"/>
                </a:solidFill>
              </a:rPr>
              <a:t>Core Features &amp; Modules</a:t>
            </a:r>
            <a:endParaRPr dirty="0" sz="1000" lang="en-US"/>
          </a:p>
        </p:txBody>
      </p:sp>
      <p:sp>
        <p:nvSpPr>
          <p:cNvPr id="1048647" name="Text 19"/>
          <p:cNvSpPr/>
          <p:nvPr/>
        </p:nvSpPr>
        <p:spPr>
          <a:xfrm>
            <a:off x="987552" y="3319272"/>
            <a:ext cx="3493008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800" lang="en-US">
                <a:solidFill>
                  <a:srgbClr val="475569"/>
                </a:solidFill>
              </a:rPr>
              <a:t>Authentication, Resume, ATS, AI, Dashboard</a:t>
            </a:r>
            <a:endParaRPr dirty="0" sz="800" lang="en-US"/>
          </a:p>
        </p:txBody>
      </p:sp>
      <p:sp>
        <p:nvSpPr>
          <p:cNvPr id="1048648" name="Shape 20"/>
          <p:cNvSpPr/>
          <p:nvPr/>
        </p:nvSpPr>
        <p:spPr>
          <a:xfrm>
            <a:off x="457200" y="384048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49" name="Shape 21"/>
          <p:cNvSpPr/>
          <p:nvPr/>
        </p:nvSpPr>
        <p:spPr>
          <a:xfrm>
            <a:off x="457200" y="3840480"/>
            <a:ext cx="438912" cy="841248"/>
          </a:xfrm>
          <a:prstGeom prst="roundRect">
            <a:avLst>
              <a:gd name="adj" fmla="val 20833"/>
            </a:avLst>
          </a:prstGeom>
          <a:solidFill>
            <a:srgbClr val="0D9488"/>
          </a:solidFill>
        </p:spPr>
      </p:sp>
      <p:sp>
        <p:nvSpPr>
          <p:cNvPr id="1048650" name="Shape 22"/>
          <p:cNvSpPr/>
          <p:nvPr/>
        </p:nvSpPr>
        <p:spPr>
          <a:xfrm>
            <a:off x="676656" y="3840480"/>
            <a:ext cx="219456" cy="841248"/>
          </a:xfrm>
          <a:prstGeom prst="rect"/>
          <a:solidFill>
            <a:srgbClr val="0D9488"/>
          </a:solidFill>
        </p:spPr>
      </p:sp>
      <p:sp>
        <p:nvSpPr>
          <p:cNvPr id="1048651" name="Text 23"/>
          <p:cNvSpPr/>
          <p:nvPr/>
        </p:nvSpPr>
        <p:spPr>
          <a:xfrm>
            <a:off x="457200" y="3840480"/>
            <a:ext cx="438912" cy="8412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04</a:t>
            </a:r>
            <a:endParaRPr dirty="0" sz="1400" lang="en-US"/>
          </a:p>
        </p:txBody>
      </p:sp>
      <p:sp>
        <p:nvSpPr>
          <p:cNvPr id="1048652" name="Text 24"/>
          <p:cNvSpPr/>
          <p:nvPr/>
        </p:nvSpPr>
        <p:spPr>
          <a:xfrm>
            <a:off x="987552" y="3913632"/>
            <a:ext cx="3493008" cy="34747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000" lang="en-US">
                <a:solidFill>
                  <a:srgbClr val="1E293B"/>
                </a:solidFill>
              </a:rPr>
              <a:t>Functional Requirements</a:t>
            </a:r>
            <a:endParaRPr dirty="0" sz="1000" lang="en-US"/>
          </a:p>
        </p:txBody>
      </p:sp>
      <p:sp>
        <p:nvSpPr>
          <p:cNvPr id="1048653" name="Text 25"/>
          <p:cNvSpPr/>
          <p:nvPr/>
        </p:nvSpPr>
        <p:spPr>
          <a:xfrm>
            <a:off x="987552" y="4279392"/>
            <a:ext cx="3493008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800" lang="en-US">
                <a:solidFill>
                  <a:srgbClr val="475569"/>
                </a:solidFill>
              </a:rPr>
              <a:t>FR-1 through FR-12 detailed specs</a:t>
            </a:r>
            <a:endParaRPr dirty="0" sz="800" lang="en-US"/>
          </a:p>
        </p:txBody>
      </p:sp>
      <p:sp>
        <p:nvSpPr>
          <p:cNvPr id="1048654" name="Shape 32"/>
          <p:cNvSpPr/>
          <p:nvPr/>
        </p:nvSpPr>
        <p:spPr>
          <a:xfrm>
            <a:off x="4800600" y="192024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55" name="Shape 33"/>
          <p:cNvSpPr/>
          <p:nvPr/>
        </p:nvSpPr>
        <p:spPr>
          <a:xfrm>
            <a:off x="4800600" y="1920240"/>
            <a:ext cx="438912" cy="841248"/>
          </a:xfrm>
          <a:prstGeom prst="roundRect">
            <a:avLst>
              <a:gd name="adj" fmla="val 20833"/>
            </a:avLst>
          </a:prstGeom>
          <a:solidFill>
            <a:srgbClr val="1A3A6C"/>
          </a:solidFill>
        </p:spPr>
      </p:sp>
      <p:sp>
        <p:nvSpPr>
          <p:cNvPr id="1048656" name="Shape 34"/>
          <p:cNvSpPr/>
          <p:nvPr/>
        </p:nvSpPr>
        <p:spPr>
          <a:xfrm>
            <a:off x="5020056" y="1920240"/>
            <a:ext cx="219456" cy="841248"/>
          </a:xfrm>
          <a:prstGeom prst="rect"/>
          <a:solidFill>
            <a:srgbClr val="1A3A6C"/>
          </a:solidFill>
        </p:spPr>
      </p:sp>
      <p:sp>
        <p:nvSpPr>
          <p:cNvPr id="1048657" name="Text 35"/>
          <p:cNvSpPr/>
          <p:nvPr/>
        </p:nvSpPr>
        <p:spPr>
          <a:xfrm>
            <a:off x="4800600" y="1920240"/>
            <a:ext cx="438912" cy="8412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0</a:t>
            </a:r>
            <a:r>
              <a:rPr altLang="en-IN" b="1" dirty="0" sz="1400" lang="en-US">
                <a:solidFill>
                  <a:srgbClr val="FFFFFF"/>
                </a:solidFill>
              </a:rPr>
              <a:t>5</a:t>
            </a:r>
            <a:endParaRPr dirty="0" sz="1400" lang="en-US"/>
          </a:p>
        </p:txBody>
      </p:sp>
      <p:sp>
        <p:nvSpPr>
          <p:cNvPr id="1048658" name="Text 36"/>
          <p:cNvSpPr/>
          <p:nvPr/>
        </p:nvSpPr>
        <p:spPr>
          <a:xfrm>
            <a:off x="5330951" y="1993391"/>
            <a:ext cx="3493008" cy="347472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000" lang="en-US">
                <a:solidFill>
                  <a:srgbClr val="1E293B"/>
                </a:solidFill>
              </a:rPr>
              <a:t>AI-Powered Features</a:t>
            </a:r>
            <a:endParaRPr dirty="0" sz="1000" lang="en-US"/>
          </a:p>
        </p:txBody>
      </p:sp>
      <p:sp>
        <p:nvSpPr>
          <p:cNvPr id="1048659" name="Text 37"/>
          <p:cNvSpPr/>
          <p:nvPr/>
        </p:nvSpPr>
        <p:spPr>
          <a:xfrm>
            <a:off x="5330952" y="2359152"/>
            <a:ext cx="3493008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800" lang="en-US">
                <a:solidFill>
                  <a:srgbClr val="475569"/>
                </a:solidFill>
              </a:rPr>
              <a:t>Groq AI recommendations &amp; interview gen</a:t>
            </a:r>
            <a:endParaRPr dirty="0" sz="800" lang="en-US"/>
          </a:p>
        </p:txBody>
      </p:sp>
      <p:sp>
        <p:nvSpPr>
          <p:cNvPr id="1048660" name="Shape 38"/>
          <p:cNvSpPr/>
          <p:nvPr/>
        </p:nvSpPr>
        <p:spPr>
          <a:xfrm>
            <a:off x="4800600" y="288036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61" name="Shape 39"/>
          <p:cNvSpPr/>
          <p:nvPr/>
        </p:nvSpPr>
        <p:spPr>
          <a:xfrm>
            <a:off x="4800600" y="2880360"/>
            <a:ext cx="438912" cy="841248"/>
          </a:xfrm>
          <a:prstGeom prst="roundRect">
            <a:avLst>
              <a:gd name="adj" fmla="val 20833"/>
            </a:avLst>
          </a:prstGeom>
          <a:solidFill>
            <a:srgbClr val="1A3A6C"/>
          </a:solidFill>
        </p:spPr>
      </p:sp>
      <p:sp>
        <p:nvSpPr>
          <p:cNvPr id="1048662" name="Shape 40"/>
          <p:cNvSpPr/>
          <p:nvPr/>
        </p:nvSpPr>
        <p:spPr>
          <a:xfrm>
            <a:off x="5020056" y="2880360"/>
            <a:ext cx="219456" cy="841248"/>
          </a:xfrm>
          <a:prstGeom prst="rect"/>
          <a:solidFill>
            <a:srgbClr val="1A3A6C"/>
          </a:solidFill>
        </p:spPr>
      </p:sp>
      <p:sp>
        <p:nvSpPr>
          <p:cNvPr id="1048663" name="Text 41"/>
          <p:cNvSpPr/>
          <p:nvPr/>
        </p:nvSpPr>
        <p:spPr>
          <a:xfrm>
            <a:off x="4800600" y="2880360"/>
            <a:ext cx="438912" cy="8412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0</a:t>
            </a:r>
            <a:r>
              <a:rPr altLang="en-IN" b="1" dirty="0" sz="1400" lang="en-US">
                <a:solidFill>
                  <a:srgbClr val="FFFFFF"/>
                </a:solidFill>
              </a:rPr>
              <a:t>6</a:t>
            </a:r>
            <a:endParaRPr dirty="0" sz="1400" lang="en-US"/>
          </a:p>
        </p:txBody>
      </p:sp>
      <p:sp>
        <p:nvSpPr>
          <p:cNvPr id="1048664" name="Text 48"/>
          <p:cNvSpPr/>
          <p:nvPr/>
        </p:nvSpPr>
        <p:spPr>
          <a:xfrm rot="21600000">
            <a:off x="5330952" y="2272826"/>
            <a:ext cx="3493008" cy="1762469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000" lang="en-US">
                <a:solidFill>
                  <a:srgbClr val="1E293B"/>
                </a:solidFill>
              </a:rPr>
              <a:t>UI/UX Interface Requirements</a:t>
            </a:r>
            <a:endParaRPr dirty="0" sz="1000" lang="en-US"/>
          </a:p>
        </p:txBody>
      </p:sp>
      <p:sp>
        <p:nvSpPr>
          <p:cNvPr id="1048665" name="Text 49"/>
          <p:cNvSpPr/>
          <p:nvPr/>
        </p:nvSpPr>
        <p:spPr>
          <a:xfrm>
            <a:off x="5330952" y="3047934"/>
            <a:ext cx="3493008" cy="792545"/>
          </a:xfrm>
          <a:prstGeom prst="rect"/>
          <a:noFill/>
        </p:spPr>
        <p:txBody>
          <a:bodyPr anchor="ctr" bIns="0" lIns="0" rIns="0" rtlCol="0" tIns="0" wrap="square"/>
          <a:lstStyle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buNone/>
            </a:pPr>
            <a:r>
              <a:rPr dirty="0" sz="800" lang="en-US">
                <a:solidFill>
                  <a:srgbClr val="475569"/>
                </a:solidFill>
                <a:latin typeface="Arial"/>
              </a:rPr>
              <a:t>Landing page, login, dashboard design</a:t>
            </a:r>
            <a:endParaRPr dirty="0" sz="80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wipe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5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ext 0"/>
          <p:cNvSpPr/>
          <p:nvPr/>
        </p:nvSpPr>
        <p:spPr>
          <a:xfrm>
            <a:off x="457200" y="182880"/>
            <a:ext cx="8229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0D9488"/>
                </a:solidFill>
              </a:rPr>
              <a:t>01 / Introduction</a:t>
            </a:r>
            <a:endParaRPr dirty="0" sz="1000" lang="en-US"/>
          </a:p>
        </p:txBody>
      </p:sp>
      <p:sp>
        <p:nvSpPr>
          <p:cNvPr id="1048670" name="Text 1"/>
          <p:cNvSpPr/>
          <p:nvPr/>
        </p:nvSpPr>
        <p:spPr>
          <a:xfrm>
            <a:off x="457200" y="484632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FFFFFF"/>
                </a:solidFill>
              </a:rPr>
              <a:t>Project Introduction &amp; Purpose</a:t>
            </a:r>
            <a:endParaRPr dirty="0" sz="3000" lang="en-US"/>
          </a:p>
        </p:txBody>
      </p:sp>
      <p:sp>
        <p:nvSpPr>
          <p:cNvPr id="1048671" name="Shape 2"/>
          <p:cNvSpPr/>
          <p:nvPr/>
        </p:nvSpPr>
        <p:spPr>
          <a:xfrm>
            <a:off x="457200" y="1060704"/>
            <a:ext cx="8229600" cy="27432"/>
          </a:xfrm>
          <a:prstGeom prst="rect"/>
          <a:solidFill>
            <a:srgbClr val="0D9488"/>
          </a:solidFill>
        </p:spPr>
      </p:sp>
      <p:sp>
        <p:nvSpPr>
          <p:cNvPr id="1048672" name="Shape 3"/>
          <p:cNvSpPr/>
          <p:nvPr/>
        </p:nvSpPr>
        <p:spPr>
          <a:xfrm>
            <a:off x="457200" y="141732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73" name="Text 4"/>
          <p:cNvSpPr/>
          <p:nvPr/>
        </p:nvSpPr>
        <p:spPr>
          <a:xfrm>
            <a:off x="640080" y="1508760"/>
            <a:ext cx="49377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4B8A6"/>
                </a:solidFill>
              </a:rPr>
              <a:t>Purpose</a:t>
            </a:r>
            <a:endParaRPr dirty="0" sz="1300" lang="en-US"/>
          </a:p>
        </p:txBody>
      </p:sp>
      <p:sp>
        <p:nvSpPr>
          <p:cNvPr id="1048674" name="Text 5"/>
          <p:cNvSpPr/>
          <p:nvPr/>
        </p:nvSpPr>
        <p:spPr>
          <a:xfrm>
            <a:off x="640080" y="1828800"/>
            <a:ext cx="493776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CBD5E1"/>
                </a:solidFill>
              </a:rPr>
              <a:t>Help job seekers optimize their resumes by analyzing them against job descriptions using AI. The system generates ATS scores, identifies skill gaps, and provides actionable recommendations to improve employability.</a:t>
            </a:r>
            <a:endParaRPr dirty="0" sz="1000" lang="en-US"/>
          </a:p>
        </p:txBody>
      </p:sp>
      <p:sp>
        <p:nvSpPr>
          <p:cNvPr id="1048675" name="Shape 6"/>
          <p:cNvSpPr/>
          <p:nvPr/>
        </p:nvSpPr>
        <p:spPr>
          <a:xfrm>
            <a:off x="5989320" y="14173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76" name="Text 7"/>
          <p:cNvSpPr/>
          <p:nvPr/>
        </p:nvSpPr>
        <p:spPr>
          <a:xfrm>
            <a:off x="6126480" y="1508760"/>
            <a:ext cx="25603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4B8A6"/>
                </a:solidFill>
              </a:rPr>
              <a:t>Intended Audience</a:t>
            </a:r>
            <a:endParaRPr dirty="0" sz="1100" lang="en-US"/>
          </a:p>
        </p:txBody>
      </p:sp>
      <p:sp>
        <p:nvSpPr>
          <p:cNvPr id="1048677" name="Text 8"/>
          <p:cNvSpPr/>
          <p:nvPr/>
        </p:nvSpPr>
        <p:spPr>
          <a:xfrm>
            <a:off x="6126480" y="1874520"/>
            <a:ext cx="2560320" cy="841248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CBD5E1"/>
                </a:solidFill>
              </a:rPr>
              <a:t>Students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CBD5E1"/>
                </a:solidFill>
              </a:rPr>
              <a:t>Job Seekers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CBD5E1"/>
                </a:solidFill>
              </a:rPr>
              <a:t>Recruiters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CBD5E1"/>
                </a:solidFill>
              </a:rPr>
              <a:t>HR Professionals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CBD5E1"/>
                </a:solidFill>
              </a:rPr>
              <a:t>Project Evaluators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CBD5E1"/>
                </a:solidFill>
              </a:rPr>
              <a:t>Developers</a:t>
            </a:r>
            <a:endParaRPr dirty="0" sz="900" lang="en-US"/>
          </a:p>
        </p:txBody>
      </p:sp>
      <p:sp>
        <p:nvSpPr>
          <p:cNvPr id="1048678" name="Shape 9"/>
          <p:cNvSpPr/>
          <p:nvPr/>
        </p:nvSpPr>
        <p:spPr>
          <a:xfrm>
            <a:off x="457200" y="30175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pic>
        <p:nvPicPr>
          <p:cNvPr id="209715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3154680"/>
            <a:ext cx="411480" cy="411480"/>
          </a:xfrm>
          <a:prstGeom prst="rect"/>
        </p:spPr>
      </p:pic>
      <p:sp>
        <p:nvSpPr>
          <p:cNvPr id="1048679" name="Text 10"/>
          <p:cNvSpPr/>
          <p:nvPr/>
        </p:nvSpPr>
        <p:spPr>
          <a:xfrm>
            <a:off x="594360" y="3621024"/>
            <a:ext cx="23774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</a:rPr>
              <a:t>Analyze Resumes</a:t>
            </a:r>
            <a:endParaRPr dirty="0" sz="1100" lang="en-US"/>
          </a:p>
        </p:txBody>
      </p:sp>
      <p:sp>
        <p:nvSpPr>
          <p:cNvPr id="1048680" name="Text 11"/>
          <p:cNvSpPr/>
          <p:nvPr/>
        </p:nvSpPr>
        <p:spPr>
          <a:xfrm>
            <a:off x="594360" y="3986784"/>
            <a:ext cx="2377440" cy="7132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Match resumes with JDs using intelligent parsing</a:t>
            </a:r>
            <a:endParaRPr dirty="0" sz="900" lang="en-US"/>
          </a:p>
        </p:txBody>
      </p:sp>
      <p:sp>
        <p:nvSpPr>
          <p:cNvPr id="1048681" name="Shape 12"/>
          <p:cNvSpPr/>
          <p:nvPr/>
        </p:nvSpPr>
        <p:spPr>
          <a:xfrm>
            <a:off x="3291840" y="30175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pic>
        <p:nvPicPr>
          <p:cNvPr id="2097158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474720" y="3154680"/>
            <a:ext cx="411480" cy="411480"/>
          </a:xfrm>
          <a:prstGeom prst="rect"/>
        </p:spPr>
      </p:pic>
      <p:sp>
        <p:nvSpPr>
          <p:cNvPr id="1048682" name="Text 13"/>
          <p:cNvSpPr/>
          <p:nvPr/>
        </p:nvSpPr>
        <p:spPr>
          <a:xfrm>
            <a:off x="3429000" y="3621024"/>
            <a:ext cx="23774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</a:rPr>
              <a:t>Generate ATS Scores</a:t>
            </a:r>
            <a:endParaRPr dirty="0" sz="1100" lang="en-US"/>
          </a:p>
        </p:txBody>
      </p:sp>
      <p:sp>
        <p:nvSpPr>
          <p:cNvPr id="1048683" name="Text 14"/>
          <p:cNvSpPr/>
          <p:nvPr/>
        </p:nvSpPr>
        <p:spPr>
          <a:xfrm>
            <a:off x="3429000" y="3986784"/>
            <a:ext cx="2377440" cy="7132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Score from 0-100 based on weighted parameters</a:t>
            </a:r>
            <a:endParaRPr dirty="0" sz="900" lang="en-US"/>
          </a:p>
        </p:txBody>
      </p:sp>
      <p:sp>
        <p:nvSpPr>
          <p:cNvPr id="1048684" name="Shape 15"/>
          <p:cNvSpPr/>
          <p:nvPr/>
        </p:nvSpPr>
        <p:spPr>
          <a:xfrm>
            <a:off x="6126480" y="30175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pic>
        <p:nvPicPr>
          <p:cNvPr id="2097159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309360" y="3154680"/>
            <a:ext cx="411480" cy="411480"/>
          </a:xfrm>
          <a:prstGeom prst="rect"/>
        </p:spPr>
      </p:pic>
      <p:sp>
        <p:nvSpPr>
          <p:cNvPr id="1048685" name="Text 16"/>
          <p:cNvSpPr/>
          <p:nvPr/>
        </p:nvSpPr>
        <p:spPr>
          <a:xfrm>
            <a:off x="6263640" y="3621024"/>
            <a:ext cx="23774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</a:rPr>
              <a:t>AI Recommendations</a:t>
            </a:r>
            <a:endParaRPr dirty="0" sz="1100" lang="en-US"/>
          </a:p>
        </p:txBody>
      </p:sp>
      <p:sp>
        <p:nvSpPr>
          <p:cNvPr id="1048686" name="Text 17"/>
          <p:cNvSpPr/>
          <p:nvPr/>
        </p:nvSpPr>
        <p:spPr>
          <a:xfrm>
            <a:off x="6263640" y="3986784"/>
            <a:ext cx="2377440" cy="7132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Groq-powered suggestions &amp; interview questions</a:t>
            </a:r>
            <a:endParaRPr dirty="0" sz="90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wipe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C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ext 0"/>
          <p:cNvSpPr/>
          <p:nvPr/>
        </p:nvSpPr>
        <p:spPr>
          <a:xfrm>
            <a:off x="457200" y="182880"/>
            <a:ext cx="8229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0D9488"/>
                </a:solidFill>
              </a:rPr>
              <a:t>02 / Architecture</a:t>
            </a:r>
            <a:endParaRPr dirty="0" sz="1000" lang="en-US"/>
          </a:p>
        </p:txBody>
      </p:sp>
      <p:sp>
        <p:nvSpPr>
          <p:cNvPr id="1048691" name="Text 1"/>
          <p:cNvSpPr/>
          <p:nvPr/>
        </p:nvSpPr>
        <p:spPr>
          <a:xfrm>
            <a:off x="457200" y="484632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0F1B35"/>
                </a:solidFill>
              </a:rPr>
              <a:t>System Architecture &amp; Tech Stack</a:t>
            </a:r>
            <a:endParaRPr dirty="0" sz="2800" lang="en-US"/>
          </a:p>
        </p:txBody>
      </p:sp>
      <p:sp>
        <p:nvSpPr>
          <p:cNvPr id="1048692" name="Shape 2"/>
          <p:cNvSpPr/>
          <p:nvPr/>
        </p:nvSpPr>
        <p:spPr>
          <a:xfrm>
            <a:off x="457200" y="1060704"/>
            <a:ext cx="8229600" cy="27432"/>
          </a:xfrm>
          <a:prstGeom prst="rect"/>
          <a:solidFill>
            <a:srgbClr val="0D9488"/>
          </a:solidFill>
        </p:spPr>
      </p:sp>
      <p:sp>
        <p:nvSpPr>
          <p:cNvPr id="1048693" name="Shape 3"/>
          <p:cNvSpPr/>
          <p:nvPr/>
        </p:nvSpPr>
        <p:spPr>
          <a:xfrm>
            <a:off x="365760" y="123444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pic>
        <p:nvPicPr>
          <p:cNvPr id="209716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2920" y="1298448"/>
            <a:ext cx="411480" cy="411480"/>
          </a:xfrm>
          <a:prstGeom prst="rect"/>
        </p:spPr>
      </p:pic>
      <p:sp>
        <p:nvSpPr>
          <p:cNvPr id="1048694" name="Text 4"/>
          <p:cNvSpPr/>
          <p:nvPr/>
        </p:nvSpPr>
        <p:spPr>
          <a:xfrm>
            <a:off x="960120" y="1325880"/>
            <a:ext cx="1298448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</a:rPr>
              <a:t>React Frontend</a:t>
            </a:r>
            <a:endParaRPr dirty="0" sz="950" lang="en-US"/>
          </a:p>
        </p:txBody>
      </p:sp>
      <p:sp>
        <p:nvSpPr>
          <p:cNvPr id="1048695" name="Text 5"/>
          <p:cNvSpPr/>
          <p:nvPr/>
        </p:nvSpPr>
        <p:spPr>
          <a:xfrm>
            <a:off x="960120" y="1645920"/>
            <a:ext cx="1298448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750" lang="en-US">
                <a:solidFill>
                  <a:srgbClr val="CBD5E1"/>
                </a:solidFill>
              </a:rPr>
              <a:t>User Interface</a:t>
            </a:r>
            <a:endParaRPr dirty="0" sz="750" lang="en-US"/>
          </a:p>
        </p:txBody>
      </p:sp>
      <p:sp>
        <p:nvSpPr>
          <p:cNvPr id="1048696" name="Text 6"/>
          <p:cNvSpPr/>
          <p:nvPr/>
        </p:nvSpPr>
        <p:spPr>
          <a:xfrm>
            <a:off x="2468880" y="1627632"/>
            <a:ext cx="182880" cy="1828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75569"/>
                </a:solidFill>
              </a:rPr>
              <a:t>▶</a:t>
            </a:r>
            <a:endParaRPr dirty="0" sz="1000" lang="en-US"/>
          </a:p>
        </p:txBody>
      </p:sp>
      <p:sp>
        <p:nvSpPr>
          <p:cNvPr id="1048697" name="Shape 7"/>
          <p:cNvSpPr/>
          <p:nvPr/>
        </p:nvSpPr>
        <p:spPr>
          <a:xfrm>
            <a:off x="2514600" y="123444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E40AF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pic>
        <p:nvPicPr>
          <p:cNvPr id="2097161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651760" y="1298448"/>
            <a:ext cx="411480" cy="411480"/>
          </a:xfrm>
          <a:prstGeom prst="rect"/>
        </p:spPr>
      </p:pic>
      <p:sp>
        <p:nvSpPr>
          <p:cNvPr id="1048698" name="Text 8"/>
          <p:cNvSpPr/>
          <p:nvPr/>
        </p:nvSpPr>
        <p:spPr>
          <a:xfrm>
            <a:off x="3108960" y="1325880"/>
            <a:ext cx="1298448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</a:rPr>
              <a:t>Express REST API</a:t>
            </a:r>
            <a:endParaRPr dirty="0" sz="950" lang="en-US"/>
          </a:p>
        </p:txBody>
      </p:sp>
      <p:sp>
        <p:nvSpPr>
          <p:cNvPr id="1048699" name="Text 9"/>
          <p:cNvSpPr/>
          <p:nvPr/>
        </p:nvSpPr>
        <p:spPr>
          <a:xfrm>
            <a:off x="3108960" y="1645920"/>
            <a:ext cx="1298448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750" lang="en-US">
                <a:solidFill>
                  <a:srgbClr val="CBD5E1"/>
                </a:solidFill>
              </a:rPr>
              <a:t>Business Logic Layer</a:t>
            </a:r>
            <a:endParaRPr dirty="0" sz="750" lang="en-US"/>
          </a:p>
        </p:txBody>
      </p:sp>
      <p:sp>
        <p:nvSpPr>
          <p:cNvPr id="1048700" name="Text 10"/>
          <p:cNvSpPr/>
          <p:nvPr/>
        </p:nvSpPr>
        <p:spPr>
          <a:xfrm>
            <a:off x="4617720" y="1627632"/>
            <a:ext cx="182880" cy="1828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75569"/>
                </a:solidFill>
              </a:rPr>
              <a:t>▶</a:t>
            </a:r>
            <a:endParaRPr dirty="0" sz="1000" lang="en-US"/>
          </a:p>
        </p:txBody>
      </p:sp>
      <p:sp>
        <p:nvSpPr>
          <p:cNvPr id="1048701" name="Shape 11"/>
          <p:cNvSpPr/>
          <p:nvPr/>
        </p:nvSpPr>
        <p:spPr>
          <a:xfrm>
            <a:off x="4663440" y="123444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pic>
        <p:nvPicPr>
          <p:cNvPr id="2097162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800600" y="1298448"/>
            <a:ext cx="411480" cy="411480"/>
          </a:xfrm>
          <a:prstGeom prst="rect"/>
        </p:spPr>
      </p:pic>
      <p:sp>
        <p:nvSpPr>
          <p:cNvPr id="1048702" name="Text 12"/>
          <p:cNvSpPr/>
          <p:nvPr/>
        </p:nvSpPr>
        <p:spPr>
          <a:xfrm>
            <a:off x="5257800" y="1325880"/>
            <a:ext cx="1298448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</a:rPr>
              <a:t>Node.js + Groq AI</a:t>
            </a:r>
            <a:endParaRPr dirty="0" sz="950" lang="en-US"/>
          </a:p>
        </p:txBody>
      </p:sp>
      <p:sp>
        <p:nvSpPr>
          <p:cNvPr id="1048703" name="Text 13"/>
          <p:cNvSpPr/>
          <p:nvPr/>
        </p:nvSpPr>
        <p:spPr>
          <a:xfrm>
            <a:off x="5257800" y="1645920"/>
            <a:ext cx="1298448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750" lang="en-US">
                <a:solidFill>
                  <a:srgbClr val="CBD5E1"/>
                </a:solidFill>
              </a:rPr>
              <a:t>AI Processing Engine</a:t>
            </a:r>
            <a:endParaRPr dirty="0" sz="750" lang="en-US"/>
          </a:p>
        </p:txBody>
      </p:sp>
      <p:sp>
        <p:nvSpPr>
          <p:cNvPr id="1048704" name="Text 14"/>
          <p:cNvSpPr/>
          <p:nvPr/>
        </p:nvSpPr>
        <p:spPr>
          <a:xfrm>
            <a:off x="6766560" y="1627632"/>
            <a:ext cx="182880" cy="1828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75569"/>
                </a:solidFill>
              </a:rPr>
              <a:t>▶</a:t>
            </a:r>
            <a:endParaRPr dirty="0" sz="1000" lang="en-US"/>
          </a:p>
        </p:txBody>
      </p:sp>
      <p:sp>
        <p:nvSpPr>
          <p:cNvPr id="1048705" name="Shape 15"/>
          <p:cNvSpPr/>
          <p:nvPr/>
        </p:nvSpPr>
        <p:spPr>
          <a:xfrm>
            <a:off x="6812280" y="123444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pic>
        <p:nvPicPr>
          <p:cNvPr id="2097163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949440" y="1298448"/>
            <a:ext cx="411480" cy="411480"/>
          </a:xfrm>
          <a:prstGeom prst="rect"/>
        </p:spPr>
      </p:pic>
      <p:sp>
        <p:nvSpPr>
          <p:cNvPr id="1048706" name="Text 16"/>
          <p:cNvSpPr/>
          <p:nvPr/>
        </p:nvSpPr>
        <p:spPr>
          <a:xfrm>
            <a:off x="7406640" y="1325880"/>
            <a:ext cx="1298448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</a:rPr>
              <a:t>MongoDB Atlas</a:t>
            </a:r>
            <a:endParaRPr dirty="0" sz="950" lang="en-US"/>
          </a:p>
        </p:txBody>
      </p:sp>
      <p:sp>
        <p:nvSpPr>
          <p:cNvPr id="1048707" name="Text 17"/>
          <p:cNvSpPr/>
          <p:nvPr/>
        </p:nvSpPr>
        <p:spPr>
          <a:xfrm>
            <a:off x="7406640" y="1645920"/>
            <a:ext cx="1298448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750" lang="en-US">
                <a:solidFill>
                  <a:srgbClr val="CBD5E1"/>
                </a:solidFill>
              </a:rPr>
              <a:t>Data Persistence Layer</a:t>
            </a:r>
            <a:endParaRPr dirty="0" sz="750" lang="en-US"/>
          </a:p>
        </p:txBody>
      </p:sp>
      <p:sp>
        <p:nvSpPr>
          <p:cNvPr id="1048708" name="Shape 18"/>
          <p:cNvSpPr/>
          <p:nvPr/>
        </p:nvSpPr>
        <p:spPr>
          <a:xfrm>
            <a:off x="365760" y="24231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09" name="Shape 19"/>
          <p:cNvSpPr/>
          <p:nvPr/>
        </p:nvSpPr>
        <p:spPr>
          <a:xfrm>
            <a:off x="365760" y="242316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0D9488"/>
          </a:solidFill>
        </p:spPr>
      </p:sp>
      <p:sp>
        <p:nvSpPr>
          <p:cNvPr id="1048710" name="Shape 20"/>
          <p:cNvSpPr/>
          <p:nvPr/>
        </p:nvSpPr>
        <p:spPr>
          <a:xfrm>
            <a:off x="365760" y="2615184"/>
            <a:ext cx="2743200" cy="192024"/>
          </a:xfrm>
          <a:prstGeom prst="rect"/>
          <a:solidFill>
            <a:srgbClr val="0D9488"/>
          </a:solidFill>
        </p:spPr>
      </p:sp>
      <p:sp>
        <p:nvSpPr>
          <p:cNvPr id="1048711" name="Text 21"/>
          <p:cNvSpPr/>
          <p:nvPr/>
        </p:nvSpPr>
        <p:spPr>
          <a:xfrm>
            <a:off x="502920" y="2423160"/>
            <a:ext cx="246888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FFFFFF"/>
                </a:solidFill>
              </a:rPr>
              <a:t>Frontend Modules</a:t>
            </a:r>
            <a:endParaRPr dirty="0" sz="1050" lang="en-US"/>
          </a:p>
        </p:txBody>
      </p:sp>
      <p:sp>
        <p:nvSpPr>
          <p:cNvPr id="1048712" name="Text 22"/>
          <p:cNvSpPr/>
          <p:nvPr/>
        </p:nvSpPr>
        <p:spPr>
          <a:xfrm>
            <a:off x="502920" y="2880360"/>
            <a:ext cx="2468880" cy="192024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Landing Page (Hero, CTA)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User Registration &amp; Login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Resume Upload Form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ATS Results Dashboard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History &amp; Trends Charts</a:t>
            </a:r>
            <a:endParaRPr dirty="0" sz="900" lang="en-US"/>
          </a:p>
        </p:txBody>
      </p:sp>
      <p:sp>
        <p:nvSpPr>
          <p:cNvPr id="1048713" name="Shape 23"/>
          <p:cNvSpPr/>
          <p:nvPr/>
        </p:nvSpPr>
        <p:spPr>
          <a:xfrm>
            <a:off x="3291840" y="24231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14" name="Shape 24"/>
          <p:cNvSpPr/>
          <p:nvPr/>
        </p:nvSpPr>
        <p:spPr>
          <a:xfrm>
            <a:off x="3291840" y="242316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1E40AF"/>
          </a:solidFill>
        </p:spPr>
      </p:sp>
      <p:sp>
        <p:nvSpPr>
          <p:cNvPr id="1048715" name="Shape 25"/>
          <p:cNvSpPr/>
          <p:nvPr/>
        </p:nvSpPr>
        <p:spPr>
          <a:xfrm>
            <a:off x="3291840" y="2615184"/>
            <a:ext cx="2743200" cy="192024"/>
          </a:xfrm>
          <a:prstGeom prst="rect"/>
          <a:solidFill>
            <a:srgbClr val="1E40AF"/>
          </a:solidFill>
        </p:spPr>
      </p:sp>
      <p:sp>
        <p:nvSpPr>
          <p:cNvPr id="1048716" name="Text 26"/>
          <p:cNvSpPr/>
          <p:nvPr/>
        </p:nvSpPr>
        <p:spPr>
          <a:xfrm>
            <a:off x="3429000" y="2423160"/>
            <a:ext cx="246888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FFFFFF"/>
                </a:solidFill>
              </a:rPr>
              <a:t>Backend Modules</a:t>
            </a:r>
            <a:endParaRPr dirty="0" sz="1050" lang="en-US"/>
          </a:p>
        </p:txBody>
      </p:sp>
      <p:sp>
        <p:nvSpPr>
          <p:cNvPr id="1048717" name="Text 27"/>
          <p:cNvSpPr/>
          <p:nvPr/>
        </p:nvSpPr>
        <p:spPr>
          <a:xfrm>
            <a:off x="3429000" y="2880360"/>
            <a:ext cx="2468880" cy="192024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Auth Module (JWT)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Resume Processing (pdf-parse, mammoth)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ATS Scoring Engine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Groq AI Integration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REST API Endpoints</a:t>
            </a:r>
            <a:endParaRPr dirty="0" sz="900" lang="en-US"/>
          </a:p>
        </p:txBody>
      </p:sp>
      <p:sp>
        <p:nvSpPr>
          <p:cNvPr id="1048718" name="Shape 28"/>
          <p:cNvSpPr/>
          <p:nvPr/>
        </p:nvSpPr>
        <p:spPr>
          <a:xfrm>
            <a:off x="6217920" y="24231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19" name="Shape 29"/>
          <p:cNvSpPr/>
          <p:nvPr/>
        </p:nvSpPr>
        <p:spPr>
          <a:xfrm>
            <a:off x="6217920" y="242316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7C3AED"/>
          </a:solidFill>
        </p:spPr>
      </p:sp>
      <p:sp>
        <p:nvSpPr>
          <p:cNvPr id="1048720" name="Shape 30"/>
          <p:cNvSpPr/>
          <p:nvPr/>
        </p:nvSpPr>
        <p:spPr>
          <a:xfrm>
            <a:off x="6217920" y="2615184"/>
            <a:ext cx="2743200" cy="192024"/>
          </a:xfrm>
          <a:prstGeom prst="rect"/>
          <a:solidFill>
            <a:srgbClr val="7C3AED"/>
          </a:solidFill>
        </p:spPr>
      </p:sp>
      <p:sp>
        <p:nvSpPr>
          <p:cNvPr id="1048721" name="Text 31"/>
          <p:cNvSpPr/>
          <p:nvPr/>
        </p:nvSpPr>
        <p:spPr>
          <a:xfrm>
            <a:off x="6355080" y="2423160"/>
            <a:ext cx="246888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FFFFFF"/>
                </a:solidFill>
              </a:rPr>
              <a:t>Data &amp; AI Modules</a:t>
            </a:r>
            <a:endParaRPr dirty="0" sz="1050" lang="en-US"/>
          </a:p>
        </p:txBody>
      </p:sp>
      <p:sp>
        <p:nvSpPr>
          <p:cNvPr id="1048722" name="Text 32"/>
          <p:cNvSpPr/>
          <p:nvPr/>
        </p:nvSpPr>
        <p:spPr>
          <a:xfrm>
            <a:off x="6355080" y="2880360"/>
            <a:ext cx="2468880" cy="192024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MongoDB User Schema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Resume Storage Schema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Analysis History Schema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Groq AI Prompt Engine</a:t>
            </a:r>
            <a:endParaRPr dirty="0" sz="900" lang="en-US"/>
          </a:p>
          <a:p>
            <a:pPr indent="-342900" marL="342900">
              <a:buSzPct val="100000"/>
              <a:buChar char="•"/>
            </a:pPr>
            <a:r>
              <a:rPr dirty="0" sz="900" lang="en-US">
                <a:solidFill>
                  <a:srgbClr val="1E293B"/>
                </a:solidFill>
              </a:rPr>
              <a:t>Skill Gap Detector</a:t>
            </a:r>
            <a:endParaRPr dirty="0" sz="90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wipe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ext 0"/>
          <p:cNvSpPr/>
          <p:nvPr/>
        </p:nvSpPr>
        <p:spPr>
          <a:xfrm>
            <a:off x="457200" y="182880"/>
            <a:ext cx="8229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0D9488"/>
                </a:solidFill>
              </a:rPr>
              <a:t>04 / Functional Requirements</a:t>
            </a:r>
            <a:endParaRPr dirty="0" sz="1000" lang="en-US"/>
          </a:p>
        </p:txBody>
      </p:sp>
      <p:sp>
        <p:nvSpPr>
          <p:cNvPr id="1048727" name="Text 1"/>
          <p:cNvSpPr/>
          <p:nvPr/>
        </p:nvSpPr>
        <p:spPr>
          <a:xfrm>
            <a:off x="457200" y="484632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</a:rPr>
              <a:t>Core Functional Requirements (FR-1 – FR-6)</a:t>
            </a:r>
            <a:endParaRPr dirty="0" sz="2600" lang="en-US"/>
          </a:p>
        </p:txBody>
      </p:sp>
      <p:sp>
        <p:nvSpPr>
          <p:cNvPr id="1048728" name="Shape 2"/>
          <p:cNvSpPr/>
          <p:nvPr/>
        </p:nvSpPr>
        <p:spPr>
          <a:xfrm>
            <a:off x="457200" y="1060704"/>
            <a:ext cx="8229600" cy="27432"/>
          </a:xfrm>
          <a:prstGeom prst="rect"/>
          <a:solidFill>
            <a:srgbClr val="0D9488"/>
          </a:solidFill>
        </p:spPr>
      </p:sp>
      <p:sp>
        <p:nvSpPr>
          <p:cNvPr id="1048729" name="Shape 3"/>
          <p:cNvSpPr/>
          <p:nvPr/>
        </p:nvSpPr>
        <p:spPr>
          <a:xfrm>
            <a:off x="457200" y="118872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30" name="Shape 4"/>
          <p:cNvSpPr/>
          <p:nvPr/>
        </p:nvSpPr>
        <p:spPr>
          <a:xfrm>
            <a:off x="594360" y="135331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0D9488"/>
          </a:solidFill>
        </p:spPr>
      </p:sp>
      <p:sp>
        <p:nvSpPr>
          <p:cNvPr id="1048731" name="Text 5"/>
          <p:cNvSpPr/>
          <p:nvPr/>
        </p:nvSpPr>
        <p:spPr>
          <a:xfrm>
            <a:off x="594360" y="1353312"/>
            <a:ext cx="53035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</a:rPr>
              <a:t>FR-1</a:t>
            </a:r>
            <a:endParaRPr dirty="0" sz="850" lang="en-US"/>
          </a:p>
        </p:txBody>
      </p:sp>
      <p:sp>
        <p:nvSpPr>
          <p:cNvPr id="1048732" name="Text 6"/>
          <p:cNvSpPr/>
          <p:nvPr/>
        </p:nvSpPr>
        <p:spPr>
          <a:xfrm>
            <a:off x="594360" y="1691640"/>
            <a:ext cx="24231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50" lang="en-US">
                <a:solidFill>
                  <a:srgbClr val="FFFFFF"/>
                </a:solidFill>
              </a:rPr>
              <a:t>User Registration</a:t>
            </a:r>
            <a:endParaRPr dirty="0" sz="1150" lang="en-US"/>
          </a:p>
        </p:txBody>
      </p:sp>
      <p:sp>
        <p:nvSpPr>
          <p:cNvPr id="1048733" name="Text 7"/>
          <p:cNvSpPr/>
          <p:nvPr/>
        </p:nvSpPr>
        <p:spPr>
          <a:xfrm>
            <a:off x="594360" y="2029968"/>
            <a:ext cx="24231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Create account with name, email, password. Returns JWT token on success.</a:t>
            </a:r>
            <a:endParaRPr dirty="0" sz="900" lang="en-US"/>
          </a:p>
        </p:txBody>
      </p:sp>
      <p:sp>
        <p:nvSpPr>
          <p:cNvPr id="1048734" name="Shape 8"/>
          <p:cNvSpPr/>
          <p:nvPr/>
        </p:nvSpPr>
        <p:spPr>
          <a:xfrm>
            <a:off x="3337560" y="118872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35" name="Shape 9"/>
          <p:cNvSpPr/>
          <p:nvPr/>
        </p:nvSpPr>
        <p:spPr>
          <a:xfrm>
            <a:off x="3474720" y="135331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</p:spPr>
      </p:sp>
      <p:sp>
        <p:nvSpPr>
          <p:cNvPr id="1048736" name="Text 10"/>
          <p:cNvSpPr/>
          <p:nvPr/>
        </p:nvSpPr>
        <p:spPr>
          <a:xfrm>
            <a:off x="3474720" y="1353312"/>
            <a:ext cx="53035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</a:rPr>
              <a:t>FR-2</a:t>
            </a:r>
            <a:endParaRPr dirty="0" sz="850" lang="en-US"/>
          </a:p>
        </p:txBody>
      </p:sp>
      <p:sp>
        <p:nvSpPr>
          <p:cNvPr id="1048737" name="Text 11"/>
          <p:cNvSpPr/>
          <p:nvPr/>
        </p:nvSpPr>
        <p:spPr>
          <a:xfrm>
            <a:off x="3474720" y="1691640"/>
            <a:ext cx="24231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50" lang="en-US">
                <a:solidFill>
                  <a:srgbClr val="FFFFFF"/>
                </a:solidFill>
              </a:rPr>
              <a:t>User Login</a:t>
            </a:r>
            <a:endParaRPr dirty="0" sz="1150" lang="en-US"/>
          </a:p>
        </p:txBody>
      </p:sp>
      <p:sp>
        <p:nvSpPr>
          <p:cNvPr id="1048738" name="Text 12"/>
          <p:cNvSpPr/>
          <p:nvPr/>
        </p:nvSpPr>
        <p:spPr>
          <a:xfrm>
            <a:off x="3474720" y="2029968"/>
            <a:ext cx="24231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Authenticate via email/password. Returns JWT token and user profile.</a:t>
            </a:r>
            <a:endParaRPr dirty="0" sz="900" lang="en-US"/>
          </a:p>
        </p:txBody>
      </p:sp>
      <p:sp>
        <p:nvSpPr>
          <p:cNvPr id="1048739" name="Shape 13"/>
          <p:cNvSpPr/>
          <p:nvPr/>
        </p:nvSpPr>
        <p:spPr>
          <a:xfrm>
            <a:off x="6217920" y="118872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40" name="Shape 14"/>
          <p:cNvSpPr/>
          <p:nvPr/>
        </p:nvSpPr>
        <p:spPr>
          <a:xfrm>
            <a:off x="6355080" y="135331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7C3AED"/>
          </a:solidFill>
        </p:spPr>
      </p:sp>
      <p:sp>
        <p:nvSpPr>
          <p:cNvPr id="1048741" name="Text 15"/>
          <p:cNvSpPr/>
          <p:nvPr/>
        </p:nvSpPr>
        <p:spPr>
          <a:xfrm>
            <a:off x="6355080" y="1353312"/>
            <a:ext cx="53035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</a:rPr>
              <a:t>FR-3</a:t>
            </a:r>
            <a:endParaRPr dirty="0" sz="850" lang="en-US"/>
          </a:p>
        </p:txBody>
      </p:sp>
      <p:sp>
        <p:nvSpPr>
          <p:cNvPr id="1048742" name="Text 16"/>
          <p:cNvSpPr/>
          <p:nvPr/>
        </p:nvSpPr>
        <p:spPr>
          <a:xfrm>
            <a:off x="6355080" y="1691640"/>
            <a:ext cx="24231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50" lang="en-US">
                <a:solidFill>
                  <a:srgbClr val="FFFFFF"/>
                </a:solidFill>
              </a:rPr>
              <a:t>Resume Upload</a:t>
            </a:r>
            <a:endParaRPr dirty="0" sz="1150" lang="en-US"/>
          </a:p>
        </p:txBody>
      </p:sp>
      <p:sp>
        <p:nvSpPr>
          <p:cNvPr id="1048743" name="Text 17"/>
          <p:cNvSpPr/>
          <p:nvPr/>
        </p:nvSpPr>
        <p:spPr>
          <a:xfrm>
            <a:off x="6355080" y="2029968"/>
            <a:ext cx="24231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Upload PDF or DOCX (max 5MB). File type &amp; size validation enforced.</a:t>
            </a:r>
            <a:endParaRPr dirty="0" sz="900" lang="en-US"/>
          </a:p>
        </p:txBody>
      </p:sp>
      <p:sp>
        <p:nvSpPr>
          <p:cNvPr id="1048744" name="Shape 18"/>
          <p:cNvSpPr/>
          <p:nvPr/>
        </p:nvSpPr>
        <p:spPr>
          <a:xfrm>
            <a:off x="457200" y="301752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45" name="Shape 19"/>
          <p:cNvSpPr/>
          <p:nvPr/>
        </p:nvSpPr>
        <p:spPr>
          <a:xfrm>
            <a:off x="594360" y="318211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</p:spPr>
      </p:sp>
      <p:sp>
        <p:nvSpPr>
          <p:cNvPr id="1048746" name="Text 20"/>
          <p:cNvSpPr/>
          <p:nvPr/>
        </p:nvSpPr>
        <p:spPr>
          <a:xfrm>
            <a:off x="594360" y="3182112"/>
            <a:ext cx="53035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</a:rPr>
              <a:t>FR-4</a:t>
            </a:r>
            <a:endParaRPr dirty="0" sz="850" lang="en-US"/>
          </a:p>
        </p:txBody>
      </p:sp>
      <p:sp>
        <p:nvSpPr>
          <p:cNvPr id="1048747" name="Text 21"/>
          <p:cNvSpPr/>
          <p:nvPr/>
        </p:nvSpPr>
        <p:spPr>
          <a:xfrm>
            <a:off x="594360" y="3520440"/>
            <a:ext cx="24231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50" lang="en-US">
                <a:solidFill>
                  <a:srgbClr val="FFFFFF"/>
                </a:solidFill>
              </a:rPr>
              <a:t>Resume Parsing</a:t>
            </a:r>
            <a:endParaRPr dirty="0" sz="1150" lang="en-US"/>
          </a:p>
        </p:txBody>
      </p:sp>
      <p:sp>
        <p:nvSpPr>
          <p:cNvPr id="1048748" name="Text 22"/>
          <p:cNvSpPr/>
          <p:nvPr/>
        </p:nvSpPr>
        <p:spPr>
          <a:xfrm>
            <a:off x="594360" y="3858768"/>
            <a:ext cx="24231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Extract text using pdf-parse &amp; mammoth libraries. Output: raw text.</a:t>
            </a:r>
            <a:endParaRPr dirty="0" sz="900" lang="en-US"/>
          </a:p>
        </p:txBody>
      </p:sp>
      <p:sp>
        <p:nvSpPr>
          <p:cNvPr id="1048749" name="Shape 23"/>
          <p:cNvSpPr/>
          <p:nvPr/>
        </p:nvSpPr>
        <p:spPr>
          <a:xfrm>
            <a:off x="3337560" y="301752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50" name="Shape 24"/>
          <p:cNvSpPr/>
          <p:nvPr/>
        </p:nvSpPr>
        <p:spPr>
          <a:xfrm>
            <a:off x="3474720" y="318211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EC4899"/>
          </a:solidFill>
        </p:spPr>
      </p:sp>
      <p:sp>
        <p:nvSpPr>
          <p:cNvPr id="1048751" name="Text 25"/>
          <p:cNvSpPr/>
          <p:nvPr/>
        </p:nvSpPr>
        <p:spPr>
          <a:xfrm>
            <a:off x="3474720" y="3182112"/>
            <a:ext cx="53035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</a:rPr>
              <a:t>FR-5</a:t>
            </a:r>
            <a:endParaRPr dirty="0" sz="850" lang="en-US"/>
          </a:p>
        </p:txBody>
      </p:sp>
      <p:sp>
        <p:nvSpPr>
          <p:cNvPr id="1048752" name="Text 26"/>
          <p:cNvSpPr/>
          <p:nvPr/>
        </p:nvSpPr>
        <p:spPr>
          <a:xfrm>
            <a:off x="3474720" y="3520440"/>
            <a:ext cx="24231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50" lang="en-US">
                <a:solidFill>
                  <a:srgbClr val="FFFFFF"/>
                </a:solidFill>
              </a:rPr>
              <a:t>Job Description</a:t>
            </a:r>
            <a:endParaRPr dirty="0" sz="1150" lang="en-US"/>
          </a:p>
        </p:txBody>
      </p:sp>
      <p:sp>
        <p:nvSpPr>
          <p:cNvPr id="1048753" name="Text 27"/>
          <p:cNvSpPr/>
          <p:nvPr/>
        </p:nvSpPr>
        <p:spPr>
          <a:xfrm>
            <a:off x="3474720" y="3858768"/>
            <a:ext cx="24231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Users input target job description for comparative analysis.</a:t>
            </a:r>
            <a:endParaRPr dirty="0" sz="900" lang="en-US"/>
          </a:p>
        </p:txBody>
      </p:sp>
      <p:sp>
        <p:nvSpPr>
          <p:cNvPr id="1048754" name="Shape 28"/>
          <p:cNvSpPr/>
          <p:nvPr/>
        </p:nvSpPr>
        <p:spPr>
          <a:xfrm>
            <a:off x="6217920" y="301752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55" name="Shape 29"/>
          <p:cNvSpPr/>
          <p:nvPr/>
        </p:nvSpPr>
        <p:spPr>
          <a:xfrm>
            <a:off x="6355080" y="318211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</p:spPr>
      </p:sp>
      <p:sp>
        <p:nvSpPr>
          <p:cNvPr id="1048756" name="Text 30"/>
          <p:cNvSpPr/>
          <p:nvPr/>
        </p:nvSpPr>
        <p:spPr>
          <a:xfrm>
            <a:off x="6355080" y="3182112"/>
            <a:ext cx="530352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850" lang="en-US">
                <a:solidFill>
                  <a:srgbClr val="FFFFFF"/>
                </a:solidFill>
              </a:rPr>
              <a:t>FR-6</a:t>
            </a:r>
            <a:endParaRPr dirty="0" sz="850" lang="en-US"/>
          </a:p>
        </p:txBody>
      </p:sp>
      <p:sp>
        <p:nvSpPr>
          <p:cNvPr id="1048757" name="Text 31"/>
          <p:cNvSpPr/>
          <p:nvPr/>
        </p:nvSpPr>
        <p:spPr>
          <a:xfrm>
            <a:off x="6355080" y="3520440"/>
            <a:ext cx="24231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50" lang="en-US">
                <a:solidFill>
                  <a:srgbClr val="FFFFFF"/>
                </a:solidFill>
              </a:rPr>
              <a:t>Resume Analysis</a:t>
            </a:r>
            <a:endParaRPr dirty="0" sz="1150" lang="en-US"/>
          </a:p>
        </p:txBody>
      </p:sp>
      <p:sp>
        <p:nvSpPr>
          <p:cNvPr id="1048758" name="Text 32"/>
          <p:cNvSpPr/>
          <p:nvPr/>
        </p:nvSpPr>
        <p:spPr>
          <a:xfrm>
            <a:off x="6355080" y="3858768"/>
            <a:ext cx="24231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CBD5E1"/>
                </a:solidFill>
              </a:rPr>
              <a:t>Compare resume vs JD across Skills, Experience, Education, Projects, Keywords.</a:t>
            </a:r>
            <a:endParaRPr dirty="0" sz="90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wipe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Text 0"/>
          <p:cNvSpPr/>
          <p:nvPr/>
        </p:nvSpPr>
        <p:spPr>
          <a:xfrm>
            <a:off x="457200" y="182880"/>
            <a:ext cx="8229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0D9488"/>
                </a:solidFill>
              </a:rPr>
              <a:t>0</a:t>
            </a:r>
            <a:r>
              <a:rPr altLang="en-IN" b="1" dirty="0" sz="1000" kern="0" lang="en-US" spc="200">
                <a:solidFill>
                  <a:srgbClr val="0D9488"/>
                </a:solidFill>
              </a:rPr>
              <a:t>5</a:t>
            </a:r>
            <a:r>
              <a:rPr b="1" dirty="0" sz="1000" kern="0" lang="en-US" spc="200">
                <a:solidFill>
                  <a:srgbClr val="0D9488"/>
                </a:solidFill>
              </a:rPr>
              <a:t> / AI Features</a:t>
            </a:r>
            <a:endParaRPr dirty="0" sz="1000" lang="en-US"/>
          </a:p>
        </p:txBody>
      </p:sp>
      <p:sp>
        <p:nvSpPr>
          <p:cNvPr id="1048763" name="Text 1"/>
          <p:cNvSpPr/>
          <p:nvPr/>
        </p:nvSpPr>
        <p:spPr>
          <a:xfrm>
            <a:off x="457200" y="484632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</a:rPr>
              <a:t>AI-Powered Features (Groq AI)</a:t>
            </a:r>
            <a:endParaRPr dirty="0" sz="2800" lang="en-US"/>
          </a:p>
        </p:txBody>
      </p:sp>
      <p:sp>
        <p:nvSpPr>
          <p:cNvPr id="1048764" name="Shape 2"/>
          <p:cNvSpPr/>
          <p:nvPr/>
        </p:nvSpPr>
        <p:spPr>
          <a:xfrm>
            <a:off x="457200" y="1060704"/>
            <a:ext cx="8229600" cy="27432"/>
          </a:xfrm>
          <a:prstGeom prst="rect"/>
          <a:solidFill>
            <a:srgbClr val="0D9488"/>
          </a:solidFill>
        </p:spPr>
      </p:sp>
      <p:sp>
        <p:nvSpPr>
          <p:cNvPr id="1048765" name="Shape 3"/>
          <p:cNvSpPr/>
          <p:nvPr/>
        </p:nvSpPr>
        <p:spPr>
          <a:xfrm>
            <a:off x="457200" y="12344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66" name="Shape 4"/>
          <p:cNvSpPr/>
          <p:nvPr/>
        </p:nvSpPr>
        <p:spPr>
          <a:xfrm>
            <a:off x="621792" y="1737360"/>
            <a:ext cx="685800" cy="685800"/>
          </a:xfrm>
          <a:prstGeom prst="ellipse"/>
          <a:solidFill>
            <a:srgbClr val="0D9488"/>
          </a:solidFill>
        </p:spPr>
      </p:sp>
      <p:pic>
        <p:nvPicPr>
          <p:cNvPr id="2097164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13232" y="1828800"/>
            <a:ext cx="502920" cy="502920"/>
          </a:xfrm>
          <a:prstGeom prst="rect"/>
        </p:spPr>
      </p:pic>
      <p:sp>
        <p:nvSpPr>
          <p:cNvPr id="1048767" name="Shape 5"/>
          <p:cNvSpPr/>
          <p:nvPr/>
        </p:nvSpPr>
        <p:spPr>
          <a:xfrm>
            <a:off x="594360" y="1399032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</p:spPr>
      </p:sp>
      <p:sp>
        <p:nvSpPr>
          <p:cNvPr id="1048768" name="Text 6"/>
          <p:cNvSpPr/>
          <p:nvPr/>
        </p:nvSpPr>
        <p:spPr>
          <a:xfrm>
            <a:off x="594360" y="1399032"/>
            <a:ext cx="804672" cy="2377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650" lang="en-US">
                <a:solidFill>
                  <a:srgbClr val="FFFFFF"/>
                </a:solidFill>
              </a:rPr>
              <a:t>GROQ AI</a:t>
            </a:r>
            <a:endParaRPr dirty="0" sz="650" lang="en-US"/>
          </a:p>
        </p:txBody>
      </p:sp>
      <p:sp>
        <p:nvSpPr>
          <p:cNvPr id="1048769" name="Text 7"/>
          <p:cNvSpPr/>
          <p:nvPr/>
        </p:nvSpPr>
        <p:spPr>
          <a:xfrm>
            <a:off x="1463040" y="1435608"/>
            <a:ext cx="2944368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Resume Summary</a:t>
            </a:r>
            <a:endParaRPr dirty="0" sz="1300" lang="en-US"/>
          </a:p>
        </p:txBody>
      </p:sp>
      <p:sp>
        <p:nvSpPr>
          <p:cNvPr id="1048770" name="Text 8"/>
          <p:cNvSpPr/>
          <p:nvPr/>
        </p:nvSpPr>
        <p:spPr>
          <a:xfrm>
            <a:off x="1463040" y="1856232"/>
            <a:ext cx="2944368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CBD5E1"/>
                </a:solidFill>
              </a:rPr>
              <a:t>AI generates a concise professional summary from the resume content automatically.</a:t>
            </a:r>
            <a:endParaRPr dirty="0" sz="950" lang="en-US"/>
          </a:p>
        </p:txBody>
      </p:sp>
      <p:sp>
        <p:nvSpPr>
          <p:cNvPr id="1048771" name="Shape 9"/>
          <p:cNvSpPr/>
          <p:nvPr/>
        </p:nvSpPr>
        <p:spPr>
          <a:xfrm>
            <a:off x="4800600" y="12344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72" name="Shape 10"/>
          <p:cNvSpPr/>
          <p:nvPr/>
        </p:nvSpPr>
        <p:spPr>
          <a:xfrm>
            <a:off x="4965192" y="1737360"/>
            <a:ext cx="685800" cy="685800"/>
          </a:xfrm>
          <a:prstGeom prst="ellipse"/>
          <a:solidFill>
            <a:srgbClr val="3B82F6"/>
          </a:solidFill>
        </p:spPr>
      </p:sp>
      <p:pic>
        <p:nvPicPr>
          <p:cNvPr id="2097165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056632" y="1828800"/>
            <a:ext cx="502920" cy="502920"/>
          </a:xfrm>
          <a:prstGeom prst="rect"/>
        </p:spPr>
      </p:pic>
      <p:sp>
        <p:nvSpPr>
          <p:cNvPr id="1048773" name="Shape 11"/>
          <p:cNvSpPr/>
          <p:nvPr/>
        </p:nvSpPr>
        <p:spPr>
          <a:xfrm>
            <a:off x="4937760" y="1399032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3B82F6"/>
          </a:solidFill>
        </p:spPr>
      </p:sp>
      <p:sp>
        <p:nvSpPr>
          <p:cNvPr id="1048774" name="Text 12"/>
          <p:cNvSpPr/>
          <p:nvPr/>
        </p:nvSpPr>
        <p:spPr>
          <a:xfrm>
            <a:off x="4937760" y="1399032"/>
            <a:ext cx="804672" cy="2377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650" lang="en-US">
                <a:solidFill>
                  <a:srgbClr val="FFFFFF"/>
                </a:solidFill>
              </a:rPr>
              <a:t>GROQ AI</a:t>
            </a:r>
            <a:endParaRPr dirty="0" sz="650" lang="en-US"/>
          </a:p>
        </p:txBody>
      </p:sp>
      <p:sp>
        <p:nvSpPr>
          <p:cNvPr id="1048775" name="Text 13"/>
          <p:cNvSpPr/>
          <p:nvPr/>
        </p:nvSpPr>
        <p:spPr>
          <a:xfrm>
            <a:off x="5806440" y="1435608"/>
            <a:ext cx="2944368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AI Suggestions</a:t>
            </a:r>
            <a:endParaRPr dirty="0" sz="1300" lang="en-US"/>
          </a:p>
        </p:txBody>
      </p:sp>
      <p:sp>
        <p:nvSpPr>
          <p:cNvPr id="1048776" name="Text 14"/>
          <p:cNvSpPr/>
          <p:nvPr/>
        </p:nvSpPr>
        <p:spPr>
          <a:xfrm>
            <a:off x="5806440" y="1856232"/>
            <a:ext cx="2944368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CBD5E1"/>
                </a:solidFill>
              </a:rPr>
              <a:t>Actionable recommendations like 'Add Docker projects' or 'Include AWS certifications'.</a:t>
            </a:r>
            <a:endParaRPr dirty="0" sz="950" lang="en-US"/>
          </a:p>
        </p:txBody>
      </p:sp>
      <p:sp>
        <p:nvSpPr>
          <p:cNvPr id="1048777" name="Shape 15"/>
          <p:cNvSpPr/>
          <p:nvPr/>
        </p:nvSpPr>
        <p:spPr>
          <a:xfrm>
            <a:off x="457200" y="310896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78" name="Shape 16"/>
          <p:cNvSpPr/>
          <p:nvPr/>
        </p:nvSpPr>
        <p:spPr>
          <a:xfrm>
            <a:off x="621792" y="3611880"/>
            <a:ext cx="685800" cy="685800"/>
          </a:xfrm>
          <a:prstGeom prst="ellipse"/>
          <a:solidFill>
            <a:srgbClr val="7C3AED"/>
          </a:solidFill>
        </p:spPr>
      </p:sp>
      <p:pic>
        <p:nvPicPr>
          <p:cNvPr id="2097166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713232" y="3703320"/>
            <a:ext cx="502920" cy="502920"/>
          </a:xfrm>
          <a:prstGeom prst="rect"/>
        </p:spPr>
      </p:pic>
      <p:sp>
        <p:nvSpPr>
          <p:cNvPr id="1048779" name="Shape 17"/>
          <p:cNvSpPr/>
          <p:nvPr/>
        </p:nvSpPr>
        <p:spPr>
          <a:xfrm>
            <a:off x="594360" y="3273552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</p:spPr>
      </p:sp>
      <p:sp>
        <p:nvSpPr>
          <p:cNvPr id="1048780" name="Text 18"/>
          <p:cNvSpPr/>
          <p:nvPr/>
        </p:nvSpPr>
        <p:spPr>
          <a:xfrm>
            <a:off x="594360" y="3273552"/>
            <a:ext cx="804672" cy="2377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650" lang="en-US">
                <a:solidFill>
                  <a:srgbClr val="FFFFFF"/>
                </a:solidFill>
              </a:rPr>
              <a:t>GROQ AI</a:t>
            </a:r>
            <a:endParaRPr dirty="0" sz="650" lang="en-US"/>
          </a:p>
        </p:txBody>
      </p:sp>
      <p:sp>
        <p:nvSpPr>
          <p:cNvPr id="1048781" name="Text 19"/>
          <p:cNvSpPr/>
          <p:nvPr/>
        </p:nvSpPr>
        <p:spPr>
          <a:xfrm>
            <a:off x="1463040" y="3310128"/>
            <a:ext cx="2944368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Resume Rewriter</a:t>
            </a:r>
            <a:endParaRPr dirty="0" sz="1300" lang="en-US"/>
          </a:p>
        </p:txBody>
      </p:sp>
      <p:sp>
        <p:nvSpPr>
          <p:cNvPr id="1048782" name="Text 20"/>
          <p:cNvSpPr/>
          <p:nvPr/>
        </p:nvSpPr>
        <p:spPr>
          <a:xfrm>
            <a:off x="1463040" y="3730752"/>
            <a:ext cx="2944368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CBD5E1"/>
                </a:solidFill>
              </a:rPr>
              <a:t>AI rewrites and enhances resume sections for better ATS compatibility and impact.</a:t>
            </a:r>
            <a:endParaRPr dirty="0" sz="950" lang="en-US"/>
          </a:p>
        </p:txBody>
      </p:sp>
      <p:sp>
        <p:nvSpPr>
          <p:cNvPr id="1048783" name="Shape 21"/>
          <p:cNvSpPr/>
          <p:nvPr/>
        </p:nvSpPr>
        <p:spPr>
          <a:xfrm>
            <a:off x="4800600" y="310896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84" name="Shape 22"/>
          <p:cNvSpPr/>
          <p:nvPr/>
        </p:nvSpPr>
        <p:spPr>
          <a:xfrm>
            <a:off x="4965192" y="3611880"/>
            <a:ext cx="685800" cy="685800"/>
          </a:xfrm>
          <a:prstGeom prst="ellipse"/>
          <a:solidFill>
            <a:srgbClr val="F59E0B"/>
          </a:solidFill>
        </p:spPr>
      </p:sp>
      <p:pic>
        <p:nvPicPr>
          <p:cNvPr id="2097167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056632" y="3703320"/>
            <a:ext cx="502920" cy="502920"/>
          </a:xfrm>
          <a:prstGeom prst="rect"/>
        </p:spPr>
      </p:pic>
      <p:sp>
        <p:nvSpPr>
          <p:cNvPr id="1048785" name="Shape 23"/>
          <p:cNvSpPr/>
          <p:nvPr/>
        </p:nvSpPr>
        <p:spPr>
          <a:xfrm>
            <a:off x="4937760" y="3273552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</p:spPr>
      </p:sp>
      <p:sp>
        <p:nvSpPr>
          <p:cNvPr id="1048786" name="Text 24"/>
          <p:cNvSpPr/>
          <p:nvPr/>
        </p:nvSpPr>
        <p:spPr>
          <a:xfrm>
            <a:off x="4937760" y="3273552"/>
            <a:ext cx="804672" cy="2377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650" lang="en-US">
                <a:solidFill>
                  <a:srgbClr val="FFFFFF"/>
                </a:solidFill>
              </a:rPr>
              <a:t>GROQ AI</a:t>
            </a:r>
            <a:endParaRPr dirty="0" sz="650" lang="en-US"/>
          </a:p>
        </p:txBody>
      </p:sp>
      <p:sp>
        <p:nvSpPr>
          <p:cNvPr id="1048787" name="Text 25"/>
          <p:cNvSpPr/>
          <p:nvPr/>
        </p:nvSpPr>
        <p:spPr>
          <a:xfrm>
            <a:off x="5806440" y="3310128"/>
            <a:ext cx="2944368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Interview Qs</a:t>
            </a:r>
            <a:endParaRPr dirty="0" sz="1300" lang="en-US"/>
          </a:p>
        </p:txBody>
      </p:sp>
      <p:sp>
        <p:nvSpPr>
          <p:cNvPr id="1048788" name="Text 26"/>
          <p:cNvSpPr/>
          <p:nvPr/>
        </p:nvSpPr>
        <p:spPr>
          <a:xfrm>
            <a:off x="5806440" y="3730752"/>
            <a:ext cx="2944368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CBD5E1"/>
                </a:solidFill>
              </a:rPr>
              <a:t>Generates targeted questions based on missing skills, e.g., 'Explain Docker architecture'.</a:t>
            </a:r>
            <a:endParaRPr dirty="0" sz="95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wipe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5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ext 0"/>
          <p:cNvSpPr/>
          <p:nvPr/>
        </p:nvSpPr>
        <p:spPr>
          <a:xfrm>
            <a:off x="457200" y="182880"/>
            <a:ext cx="8229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0D9488"/>
                </a:solidFill>
              </a:rPr>
              <a:t>0</a:t>
            </a:r>
            <a:r>
              <a:rPr altLang="en-IN" b="1" dirty="0" sz="1000" kern="0" lang="en-US" spc="200">
                <a:solidFill>
                  <a:srgbClr val="0D9488"/>
                </a:solidFill>
              </a:rPr>
              <a:t>6</a:t>
            </a:r>
            <a:r>
              <a:rPr b="1" dirty="0" sz="1000" kern="0" lang="en-US" spc="200">
                <a:solidFill>
                  <a:srgbClr val="0D9488"/>
                </a:solidFill>
              </a:rPr>
              <a:t> / UI Requirements</a:t>
            </a:r>
            <a:r>
              <a:rPr altLang="en-IN" b="1" dirty="0" sz="1000" kern="0" lang="en-US" spc="200">
                <a:solidFill>
                  <a:srgbClr val="0D9488"/>
                </a:solidFill>
              </a:rPr>
              <a:t> </a:t>
            </a:r>
            <a:endParaRPr dirty="0" sz="1000" lang="en-US"/>
          </a:p>
        </p:txBody>
      </p:sp>
      <p:sp>
        <p:nvSpPr>
          <p:cNvPr id="1048793" name="Text 1"/>
          <p:cNvSpPr/>
          <p:nvPr/>
        </p:nvSpPr>
        <p:spPr>
          <a:xfrm>
            <a:off x="457200" y="484632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</a:rPr>
              <a:t>User Interface Requirements</a:t>
            </a:r>
            <a:endParaRPr dirty="0" sz="2800" lang="en-US"/>
          </a:p>
        </p:txBody>
      </p:sp>
      <p:sp>
        <p:nvSpPr>
          <p:cNvPr id="1048794" name="Shape 2"/>
          <p:cNvSpPr/>
          <p:nvPr/>
        </p:nvSpPr>
        <p:spPr>
          <a:xfrm>
            <a:off x="457200" y="1060704"/>
            <a:ext cx="8229600" cy="27432"/>
          </a:xfrm>
          <a:prstGeom prst="rect"/>
          <a:solidFill>
            <a:srgbClr val="0D9488"/>
          </a:solidFill>
        </p:spPr>
      </p:sp>
      <p:sp>
        <p:nvSpPr>
          <p:cNvPr id="1048795" name="Shape 3"/>
          <p:cNvSpPr/>
          <p:nvPr/>
        </p:nvSpPr>
        <p:spPr>
          <a:xfrm>
            <a:off x="457200" y="1234440"/>
            <a:ext cx="4114800" cy="1719072"/>
          </a:xfrm>
          <a:prstGeom prst="roundRect">
            <a:avLst>
              <a:gd name="adj" fmla="val 6383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96" name="Shape 4"/>
          <p:cNvSpPr/>
          <p:nvPr/>
        </p:nvSpPr>
        <p:spPr>
          <a:xfrm>
            <a:off x="621792" y="1399032"/>
            <a:ext cx="594360" cy="594360"/>
          </a:xfrm>
          <a:prstGeom prst="ellipse"/>
          <a:solidFill>
            <a:srgbClr val="0D9488"/>
          </a:solidFill>
        </p:spPr>
      </p:sp>
      <p:pic>
        <p:nvPicPr>
          <p:cNvPr id="209716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94944" y="1472184"/>
            <a:ext cx="448056" cy="448056"/>
          </a:xfrm>
          <a:prstGeom prst="rect"/>
        </p:spPr>
      </p:pic>
      <p:sp>
        <p:nvSpPr>
          <p:cNvPr id="1048797" name="Text 5"/>
          <p:cNvSpPr/>
          <p:nvPr/>
        </p:nvSpPr>
        <p:spPr>
          <a:xfrm>
            <a:off x="1371600" y="1463040"/>
            <a:ext cx="301752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</a:rPr>
              <a:t>Landing Page</a:t>
            </a:r>
            <a:endParaRPr dirty="0" sz="1350" lang="en-US"/>
          </a:p>
        </p:txBody>
      </p:sp>
      <p:sp>
        <p:nvSpPr>
          <p:cNvPr id="1048798" name="Text 6"/>
          <p:cNvSpPr/>
          <p:nvPr/>
        </p:nvSpPr>
        <p:spPr>
          <a:xfrm>
            <a:off x="640080" y="2039112"/>
            <a:ext cx="3749040" cy="77724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Hero Section with tagline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Feature showcase cards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Call-to-Action buttons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Responsive layout</a:t>
            </a:r>
            <a:endParaRPr dirty="0" sz="950" lang="en-US"/>
          </a:p>
        </p:txBody>
      </p:sp>
      <p:sp>
        <p:nvSpPr>
          <p:cNvPr id="1048799" name="Shape 7"/>
          <p:cNvSpPr/>
          <p:nvPr/>
        </p:nvSpPr>
        <p:spPr>
          <a:xfrm>
            <a:off x="4800600" y="1234440"/>
            <a:ext cx="4114800" cy="1719072"/>
          </a:xfrm>
          <a:prstGeom prst="roundRect">
            <a:avLst>
              <a:gd name="adj" fmla="val 6383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800" name="Shape 8"/>
          <p:cNvSpPr/>
          <p:nvPr/>
        </p:nvSpPr>
        <p:spPr>
          <a:xfrm>
            <a:off x="4965192" y="1399032"/>
            <a:ext cx="594360" cy="594360"/>
          </a:xfrm>
          <a:prstGeom prst="ellipse"/>
          <a:solidFill>
            <a:srgbClr val="3B82F6"/>
          </a:solidFill>
        </p:spPr>
      </p:sp>
      <p:pic>
        <p:nvPicPr>
          <p:cNvPr id="209716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038344" y="1472184"/>
            <a:ext cx="448056" cy="448056"/>
          </a:xfrm>
          <a:prstGeom prst="rect"/>
        </p:spPr>
      </p:pic>
      <p:sp>
        <p:nvSpPr>
          <p:cNvPr id="1048801" name="Text 9"/>
          <p:cNvSpPr/>
          <p:nvPr/>
        </p:nvSpPr>
        <p:spPr>
          <a:xfrm>
            <a:off x="5715000" y="1463040"/>
            <a:ext cx="301752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</a:rPr>
              <a:t>Login / Register</a:t>
            </a:r>
            <a:endParaRPr dirty="0" sz="1350" lang="en-US"/>
          </a:p>
        </p:txBody>
      </p:sp>
      <p:sp>
        <p:nvSpPr>
          <p:cNvPr id="1048802" name="Text 10"/>
          <p:cNvSpPr/>
          <p:nvPr/>
        </p:nvSpPr>
        <p:spPr>
          <a:xfrm>
            <a:off x="4983480" y="2039112"/>
            <a:ext cx="3749040" cy="77724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Email &amp; Password fields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Client-side validation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JWT token management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Error feedback UI</a:t>
            </a:r>
            <a:endParaRPr dirty="0" sz="950" lang="en-US"/>
          </a:p>
        </p:txBody>
      </p:sp>
      <p:sp>
        <p:nvSpPr>
          <p:cNvPr id="1048803" name="Shape 11"/>
          <p:cNvSpPr/>
          <p:nvPr/>
        </p:nvSpPr>
        <p:spPr>
          <a:xfrm>
            <a:off x="457200" y="3154680"/>
            <a:ext cx="4114800" cy="1719072"/>
          </a:xfrm>
          <a:prstGeom prst="roundRect">
            <a:avLst>
              <a:gd name="adj" fmla="val 6383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804" name="Shape 12"/>
          <p:cNvSpPr/>
          <p:nvPr/>
        </p:nvSpPr>
        <p:spPr>
          <a:xfrm>
            <a:off x="621792" y="3319272"/>
            <a:ext cx="594360" cy="594360"/>
          </a:xfrm>
          <a:prstGeom prst="ellipse"/>
          <a:solidFill>
            <a:srgbClr val="7C3AED"/>
          </a:solidFill>
        </p:spPr>
      </p:sp>
      <p:pic>
        <p:nvPicPr>
          <p:cNvPr id="2097170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94944" y="3392424"/>
            <a:ext cx="448056" cy="448056"/>
          </a:xfrm>
          <a:prstGeom prst="rect"/>
        </p:spPr>
      </p:pic>
      <p:sp>
        <p:nvSpPr>
          <p:cNvPr id="1048805" name="Text 13"/>
          <p:cNvSpPr/>
          <p:nvPr/>
        </p:nvSpPr>
        <p:spPr>
          <a:xfrm>
            <a:off x="1371600" y="3383280"/>
            <a:ext cx="301752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</a:rPr>
              <a:t>Upload Center</a:t>
            </a:r>
            <a:endParaRPr dirty="0" sz="1350" lang="en-US"/>
          </a:p>
        </p:txBody>
      </p:sp>
      <p:sp>
        <p:nvSpPr>
          <p:cNvPr id="1048806" name="Text 14"/>
          <p:cNvSpPr/>
          <p:nvPr/>
        </p:nvSpPr>
        <p:spPr>
          <a:xfrm>
            <a:off x="640080" y="3959352"/>
            <a:ext cx="3749040" cy="77724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Drag &amp; drop resume upload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PDF / DOCX support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File size validation (5MB)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Job description textarea</a:t>
            </a:r>
            <a:endParaRPr dirty="0" sz="950" lang="en-US"/>
          </a:p>
        </p:txBody>
      </p:sp>
      <p:sp>
        <p:nvSpPr>
          <p:cNvPr id="1048807" name="Shape 15"/>
          <p:cNvSpPr/>
          <p:nvPr/>
        </p:nvSpPr>
        <p:spPr>
          <a:xfrm>
            <a:off x="4800600" y="3154680"/>
            <a:ext cx="4114800" cy="1719072"/>
          </a:xfrm>
          <a:prstGeom prst="roundRect">
            <a:avLst>
              <a:gd name="adj" fmla="val 6383"/>
            </a:avLst>
          </a:prstGeom>
          <a:solidFill>
            <a:srgbClr val="1A3A6C"/>
          </a:solidFill>
          <a:effectLst>
            <a:outerShdw algn="bl" blurRad="101600" dir="27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808" name="Shape 16"/>
          <p:cNvSpPr/>
          <p:nvPr/>
        </p:nvSpPr>
        <p:spPr>
          <a:xfrm>
            <a:off x="4965192" y="3319272"/>
            <a:ext cx="594360" cy="594360"/>
          </a:xfrm>
          <a:prstGeom prst="ellipse"/>
          <a:solidFill>
            <a:srgbClr val="F59E0B"/>
          </a:solidFill>
        </p:spPr>
      </p:sp>
      <p:pic>
        <p:nvPicPr>
          <p:cNvPr id="2097171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038344" y="3392424"/>
            <a:ext cx="448056" cy="448056"/>
          </a:xfrm>
          <a:prstGeom prst="rect"/>
        </p:spPr>
      </p:pic>
      <p:sp>
        <p:nvSpPr>
          <p:cNvPr id="1048809" name="Text 17"/>
          <p:cNvSpPr/>
          <p:nvPr/>
        </p:nvSpPr>
        <p:spPr>
          <a:xfrm>
            <a:off x="5715000" y="3383280"/>
            <a:ext cx="301752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</a:rPr>
              <a:t>Dashboard</a:t>
            </a:r>
            <a:endParaRPr dirty="0" sz="1350" lang="en-US"/>
          </a:p>
        </p:txBody>
      </p:sp>
      <p:sp>
        <p:nvSpPr>
          <p:cNvPr id="1048810" name="Text 18"/>
          <p:cNvSpPr/>
          <p:nvPr/>
        </p:nvSpPr>
        <p:spPr>
          <a:xfrm>
            <a:off x="4983480" y="3959352"/>
            <a:ext cx="3749040" cy="77724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Sidebar navigation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ATS Score display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Analysis history table</a:t>
            </a:r>
            <a:endParaRPr dirty="0" sz="950" lang="en-US"/>
          </a:p>
          <a:p>
            <a:pPr indent="-342900" marL="342900">
              <a:buSzPct val="100000"/>
              <a:buChar char="•"/>
            </a:pPr>
            <a:r>
              <a:rPr dirty="0" sz="950" lang="en-US">
                <a:solidFill>
                  <a:srgbClr val="CBD5E1"/>
                </a:solidFill>
              </a:rPr>
              <a:t>Score trend chart</a:t>
            </a:r>
            <a:endParaRPr dirty="0" sz="95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wipe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0D9488"/>
          </a:solidFill>
        </p:spPr>
      </p:sp>
      <p:pic>
        <p:nvPicPr>
          <p:cNvPr id="209717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/>
        </p:spPr>
      </p:pic>
      <p:sp>
        <p:nvSpPr>
          <p:cNvPr id="1048815" name="Text 1"/>
          <p:cNvSpPr/>
          <p:nvPr/>
        </p:nvSpPr>
        <p:spPr>
          <a:xfrm>
            <a:off x="914400" y="1965960"/>
            <a:ext cx="7315200" cy="9144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5400" lang="en-US">
                <a:solidFill>
                  <a:srgbClr val="FFFFFF"/>
                </a:solidFill>
              </a:rPr>
              <a:t>Thank You</a:t>
            </a:r>
            <a:endParaRPr dirty="0" sz="5400" lang="en-US"/>
          </a:p>
        </p:txBody>
      </p:sp>
      <p:sp>
        <p:nvSpPr>
          <p:cNvPr id="1048816" name="Text 2"/>
          <p:cNvSpPr/>
          <p:nvPr/>
        </p:nvSpPr>
        <p:spPr>
          <a:xfrm>
            <a:off x="914400" y="2926080"/>
            <a:ext cx="73152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i="1" lang="en-US">
                <a:solidFill>
                  <a:srgbClr val="14B8A6"/>
                </a:solidFill>
              </a:rPr>
              <a:t>AI Resume Analyzer – MERN Stack + Groq AI</a:t>
            </a:r>
            <a:endParaRPr dirty="0" sz="1400" lang="en-US"/>
          </a:p>
        </p:txBody>
      </p:sp>
      <p:sp>
        <p:nvSpPr>
          <p:cNvPr id="1048817" name="Shape 3"/>
          <p:cNvSpPr/>
          <p:nvPr/>
        </p:nvSpPr>
        <p:spPr>
          <a:xfrm>
            <a:off x="822960" y="3520440"/>
            <a:ext cx="233172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</p:spPr>
      </p:sp>
      <p:sp>
        <p:nvSpPr>
          <p:cNvPr id="1048818" name="Text 4"/>
          <p:cNvSpPr/>
          <p:nvPr/>
        </p:nvSpPr>
        <p:spPr>
          <a:xfrm>
            <a:off x="822960" y="3520440"/>
            <a:ext cx="233172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FR-1 to FR-12</a:t>
            </a:r>
            <a:endParaRPr dirty="0" sz="900" lang="en-US"/>
          </a:p>
        </p:txBody>
      </p:sp>
      <p:sp>
        <p:nvSpPr>
          <p:cNvPr id="1048819" name="Shape 5"/>
          <p:cNvSpPr/>
          <p:nvPr/>
        </p:nvSpPr>
        <p:spPr>
          <a:xfrm>
            <a:off x="3364992" y="3520440"/>
            <a:ext cx="2331720" cy="320040"/>
          </a:xfrm>
          <a:prstGeom prst="roundRect">
            <a:avLst>
              <a:gd name="adj" fmla="val 28571"/>
            </a:avLst>
          </a:prstGeom>
          <a:solidFill>
            <a:srgbClr val="1A3A6C"/>
          </a:solidFill>
        </p:spPr>
      </p:sp>
      <p:sp>
        <p:nvSpPr>
          <p:cNvPr id="1048820" name="Text 6"/>
          <p:cNvSpPr/>
          <p:nvPr/>
        </p:nvSpPr>
        <p:spPr>
          <a:xfrm>
            <a:off x="3364992" y="3520440"/>
            <a:ext cx="233172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ATS Engine</a:t>
            </a:r>
            <a:endParaRPr dirty="0" sz="900" lang="en-US"/>
          </a:p>
        </p:txBody>
      </p:sp>
      <p:sp>
        <p:nvSpPr>
          <p:cNvPr id="1048821" name="Shape 7"/>
          <p:cNvSpPr/>
          <p:nvPr/>
        </p:nvSpPr>
        <p:spPr>
          <a:xfrm>
            <a:off x="5907024" y="3520440"/>
            <a:ext cx="233172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</p:spPr>
      </p:sp>
      <p:sp>
        <p:nvSpPr>
          <p:cNvPr id="1048822" name="Text 8"/>
          <p:cNvSpPr/>
          <p:nvPr/>
        </p:nvSpPr>
        <p:spPr>
          <a:xfrm>
            <a:off x="5907024" y="3520440"/>
            <a:ext cx="233172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Groq AI</a:t>
            </a:r>
            <a:endParaRPr dirty="0" sz="900" lang="en-US"/>
          </a:p>
        </p:txBody>
      </p:sp>
      <p:sp>
        <p:nvSpPr>
          <p:cNvPr id="1048823" name="Shape 9"/>
          <p:cNvSpPr/>
          <p:nvPr/>
        </p:nvSpPr>
        <p:spPr>
          <a:xfrm>
            <a:off x="822960" y="3959352"/>
            <a:ext cx="2331720" cy="320040"/>
          </a:xfrm>
          <a:prstGeom prst="roundRect">
            <a:avLst>
              <a:gd name="adj" fmla="val 28571"/>
            </a:avLst>
          </a:prstGeom>
          <a:solidFill>
            <a:srgbClr val="1A3A6C"/>
          </a:solidFill>
        </p:spPr>
      </p:sp>
      <p:sp>
        <p:nvSpPr>
          <p:cNvPr id="1048824" name="Text 10"/>
          <p:cNvSpPr/>
          <p:nvPr/>
        </p:nvSpPr>
        <p:spPr>
          <a:xfrm>
            <a:off x="822960" y="3959352"/>
            <a:ext cx="233172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JWT Auth</a:t>
            </a:r>
            <a:endParaRPr dirty="0" sz="900" lang="en-US"/>
          </a:p>
        </p:txBody>
      </p:sp>
      <p:sp>
        <p:nvSpPr>
          <p:cNvPr id="1048825" name="Shape 11"/>
          <p:cNvSpPr/>
          <p:nvPr/>
        </p:nvSpPr>
        <p:spPr>
          <a:xfrm>
            <a:off x="3364992" y="3959352"/>
            <a:ext cx="233172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</p:spPr>
      </p:sp>
      <p:sp>
        <p:nvSpPr>
          <p:cNvPr id="1048826" name="Text 12"/>
          <p:cNvSpPr/>
          <p:nvPr/>
        </p:nvSpPr>
        <p:spPr>
          <a:xfrm>
            <a:off x="3364992" y="3959352"/>
            <a:ext cx="233172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MongoDB Atlas</a:t>
            </a:r>
            <a:endParaRPr dirty="0" sz="900" lang="en-US"/>
          </a:p>
        </p:txBody>
      </p:sp>
      <p:sp>
        <p:nvSpPr>
          <p:cNvPr id="1048827" name="Shape 13"/>
          <p:cNvSpPr/>
          <p:nvPr/>
        </p:nvSpPr>
        <p:spPr>
          <a:xfrm>
            <a:off x="5907024" y="3959352"/>
            <a:ext cx="2331720" cy="320040"/>
          </a:xfrm>
          <a:prstGeom prst="roundRect">
            <a:avLst>
              <a:gd name="adj" fmla="val 28571"/>
            </a:avLst>
          </a:prstGeom>
          <a:solidFill>
            <a:srgbClr val="1A3A6C"/>
          </a:solidFill>
        </p:spPr>
      </p:sp>
      <p:sp>
        <p:nvSpPr>
          <p:cNvPr id="1048828" name="Text 14"/>
          <p:cNvSpPr/>
          <p:nvPr/>
        </p:nvSpPr>
        <p:spPr>
          <a:xfrm>
            <a:off x="5907024" y="3959352"/>
            <a:ext cx="233172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React Dashboard</a:t>
            </a:r>
            <a:endParaRPr dirty="0" sz="900" lang="en-US"/>
          </a:p>
        </p:txBody>
      </p:sp>
      <p:sp>
        <p:nvSpPr>
          <p:cNvPr id="1048829" name="Shape 15"/>
          <p:cNvSpPr/>
          <p:nvPr/>
        </p:nvSpPr>
        <p:spPr>
          <a:xfrm>
            <a:off x="0" y="4846320"/>
            <a:ext cx="9144000" cy="297180"/>
          </a:xfrm>
          <a:prstGeom prst="rect"/>
          <a:solidFill>
            <a:srgbClr val="0D9488"/>
          </a:solidFill>
        </p:spPr>
      </p:sp>
      <p:sp>
        <p:nvSpPr>
          <p:cNvPr id="1048830" name="Text 16"/>
          <p:cNvSpPr/>
          <p:nvPr/>
        </p:nvSpPr>
        <p:spPr>
          <a:xfrm>
            <a:off x="0" y="4846320"/>
            <a:ext cx="9144000" cy="2971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50" lang="en-US">
                <a:solidFill>
                  <a:srgbClr val="FFFFFF"/>
                </a:solidFill>
              </a:rPr>
              <a:t>SRS v1.0  ·  Full Stack Web Application  ·  MERN + Groq AI</a:t>
            </a:r>
            <a:endParaRPr dirty="0" sz="85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wipe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 Resume Analyzer – SRS v2</dc:title>
  <dc:creator>PptxGenJS</dc:creator>
  <cp:lastModifiedBy>Saksham Gupta</cp:lastModifiedBy>
  <dcterms:created xsi:type="dcterms:W3CDTF">2026-06-23T00:53:48Z</dcterms:created>
  <dcterms:modified xsi:type="dcterms:W3CDTF">2026-06-24T18:01:50Z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47e2d5f9fbac485babbbdf4fe069ad59_23</vt:lpwstr>
  </property>
</Properties>
</file>